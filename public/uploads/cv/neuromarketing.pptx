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32" r:id="rId2"/>
    <p:sldMasterId id="2147483744" r:id="rId3"/>
  </p:sldMasterIdLst>
  <p:sldIdLst>
    <p:sldId id="256" r:id="rId4"/>
    <p:sldId id="257" r:id="rId5"/>
    <p:sldId id="281" r:id="rId6"/>
    <p:sldId id="261" r:id="rId7"/>
    <p:sldId id="262" r:id="rId8"/>
    <p:sldId id="264" r:id="rId9"/>
    <p:sldId id="265" r:id="rId10"/>
    <p:sldId id="266" r:id="rId11"/>
    <p:sldId id="298" r:id="rId12"/>
    <p:sldId id="297" r:id="rId13"/>
    <p:sldId id="268" r:id="rId14"/>
    <p:sldId id="269" r:id="rId15"/>
    <p:sldId id="271" r:id="rId16"/>
    <p:sldId id="272" r:id="rId17"/>
    <p:sldId id="274" r:id="rId18"/>
    <p:sldId id="275" r:id="rId19"/>
    <p:sldId id="286" r:id="rId20"/>
    <p:sldId id="278" r:id="rId21"/>
    <p:sldId id="280" r:id="rId22"/>
    <p:sldId id="283" r:id="rId23"/>
    <p:sldId id="285" r:id="rId24"/>
    <p:sldId id="289" r:id="rId25"/>
    <p:sldId id="290" r:id="rId26"/>
    <p:sldId id="292" r:id="rId27"/>
    <p:sldId id="299"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4" autoAdjust="0"/>
    <p:restoredTop sz="94709" autoAdjust="0"/>
  </p:normalViewPr>
  <p:slideViewPr>
    <p:cSldViewPr>
      <p:cViewPr>
        <p:scale>
          <a:sx n="100" d="100"/>
          <a:sy n="100" d="100"/>
        </p:scale>
        <p:origin x="-1650" y="-522"/>
      </p:cViewPr>
      <p:guideLst>
        <p:guide orient="horz" pos="2160"/>
        <p:guide pos="2880"/>
      </p:guideLst>
    </p:cSldViewPr>
  </p:slideViewPr>
  <p:outlineViewPr>
    <p:cViewPr>
      <p:scale>
        <a:sx n="33" d="100"/>
        <a:sy n="33" d="100"/>
      </p:scale>
      <p:origin x="0" y="1222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Tree>
    <p:extLst>
      <p:ext uri="{BB962C8B-B14F-4D97-AF65-F5344CB8AC3E}">
        <p14:creationId xmlns:p14="http://schemas.microsoft.com/office/powerpoint/2010/main" val="354143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Tree>
    <p:extLst>
      <p:ext uri="{BB962C8B-B14F-4D97-AF65-F5344CB8AC3E}">
        <p14:creationId xmlns:p14="http://schemas.microsoft.com/office/powerpoint/2010/main" val="189611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Tree>
    <p:extLst>
      <p:ext uri="{BB962C8B-B14F-4D97-AF65-F5344CB8AC3E}">
        <p14:creationId xmlns:p14="http://schemas.microsoft.com/office/powerpoint/2010/main" val="3607039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2CD50F2-F0FA-447C-BA7A-395BDC9022F8}" type="datetimeFigureOut">
              <a:rPr lang="en-US" smtClean="0"/>
              <a:t>12-Dec-13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F5E5D-DBA1-4F55-BD93-F8A549FC2449}" type="slidenum">
              <a:rPr lang="en-US" smtClean="0"/>
              <a:t>‹#›</a:t>
            </a:fld>
            <a:endParaRPr lang="en-US"/>
          </a:p>
        </p:txBody>
      </p:sp>
    </p:spTree>
    <p:extLst>
      <p:ext uri="{BB962C8B-B14F-4D97-AF65-F5344CB8AC3E}">
        <p14:creationId xmlns:p14="http://schemas.microsoft.com/office/powerpoint/2010/main" val="1804156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2CD50F2-F0FA-447C-BA7A-395BDC9022F8}" type="datetimeFigureOut">
              <a:rPr lang="en-US" smtClean="0"/>
              <a:t>12-Dec-13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1F5E5D-DBA1-4F55-BD93-F8A549FC2449}" type="slidenum">
              <a:rPr lang="en-US" smtClean="0"/>
              <a:t>‹#›</a:t>
            </a:fld>
            <a:endParaRPr lang="en-US"/>
          </a:p>
        </p:txBody>
      </p:sp>
    </p:spTree>
    <p:extLst>
      <p:ext uri="{BB962C8B-B14F-4D97-AF65-F5344CB8AC3E}">
        <p14:creationId xmlns:p14="http://schemas.microsoft.com/office/powerpoint/2010/main" val="1198930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2CD50F2-F0FA-447C-BA7A-395BDC9022F8}" type="datetimeFigureOut">
              <a:rPr lang="en-US" smtClean="0"/>
              <a:t>12-Dec-13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1F5E5D-DBA1-4F55-BD93-F8A549FC2449}" type="slidenum">
              <a:rPr lang="en-US" smtClean="0"/>
              <a:t>‹#›</a:t>
            </a:fld>
            <a:endParaRPr lang="en-US"/>
          </a:p>
        </p:txBody>
      </p:sp>
    </p:spTree>
    <p:extLst>
      <p:ext uri="{BB962C8B-B14F-4D97-AF65-F5344CB8AC3E}">
        <p14:creationId xmlns:p14="http://schemas.microsoft.com/office/powerpoint/2010/main" val="899465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CD50F2-F0FA-447C-BA7A-395BDC9022F8}" type="datetimeFigureOut">
              <a:rPr lang="en-US" smtClean="0"/>
              <a:t>12-Dec-13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1F5E5D-DBA1-4F55-BD93-F8A549FC2449}" type="slidenum">
              <a:rPr lang="en-US" smtClean="0"/>
              <a:t>‹#›</a:t>
            </a:fld>
            <a:endParaRPr lang="en-US"/>
          </a:p>
        </p:txBody>
      </p:sp>
    </p:spTree>
    <p:extLst>
      <p:ext uri="{BB962C8B-B14F-4D97-AF65-F5344CB8AC3E}">
        <p14:creationId xmlns:p14="http://schemas.microsoft.com/office/powerpoint/2010/main" val="615242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CD50F2-F0FA-447C-BA7A-395BDC9022F8}" type="datetimeFigureOut">
              <a:rPr lang="en-US" smtClean="0"/>
              <a:t>12-Dec-13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F5E5D-DBA1-4F55-BD93-F8A549FC2449}" type="slidenum">
              <a:rPr lang="en-US" smtClean="0"/>
              <a:t>‹#›</a:t>
            </a:fld>
            <a:endParaRPr lang="en-US"/>
          </a:p>
        </p:txBody>
      </p:sp>
    </p:spTree>
    <p:extLst>
      <p:ext uri="{BB962C8B-B14F-4D97-AF65-F5344CB8AC3E}">
        <p14:creationId xmlns:p14="http://schemas.microsoft.com/office/powerpoint/2010/main" val="3194616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CD50F2-F0FA-447C-BA7A-395BDC9022F8}" type="datetimeFigureOut">
              <a:rPr lang="en-US" smtClean="0"/>
              <a:t>12-Dec-13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F5E5D-DBA1-4F55-BD93-F8A549FC2449}" type="slidenum">
              <a:rPr lang="en-US" smtClean="0"/>
              <a:t>‹#›</a:t>
            </a:fld>
            <a:endParaRPr lang="en-US"/>
          </a:p>
        </p:txBody>
      </p:sp>
    </p:spTree>
    <p:extLst>
      <p:ext uri="{BB962C8B-B14F-4D97-AF65-F5344CB8AC3E}">
        <p14:creationId xmlns:p14="http://schemas.microsoft.com/office/powerpoint/2010/main" val="2237933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Tree>
    <p:extLst>
      <p:ext uri="{BB962C8B-B14F-4D97-AF65-F5344CB8AC3E}">
        <p14:creationId xmlns:p14="http://schemas.microsoft.com/office/powerpoint/2010/main" val="748900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Tree>
    <p:extLst>
      <p:ext uri="{BB962C8B-B14F-4D97-AF65-F5344CB8AC3E}">
        <p14:creationId xmlns:p14="http://schemas.microsoft.com/office/powerpoint/2010/main" val="580357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62CD50F2-F0FA-447C-BA7A-395BDC9022F8}" type="datetimeFigureOut">
              <a:rPr lang="en-US" smtClean="0"/>
              <a:t>12-Dec-13</a:t>
            </a:fld>
            <a:endParaRPr lang="en-US"/>
          </a:p>
        </p:txBody>
      </p:sp>
      <p:sp>
        <p:nvSpPr>
          <p:cNvPr id="8" name="Slide Number Placeholder 7"/>
          <p:cNvSpPr>
            <a:spLocks noGrp="1"/>
          </p:cNvSpPr>
          <p:nvPr>
            <p:ph type="sldNum" sz="quarter" idx="11"/>
          </p:nvPr>
        </p:nvSpPr>
        <p:spPr/>
        <p:txBody>
          <a:bodyPr/>
          <a:lstStyle/>
          <a:p>
            <a:fld id="{061F5E5D-DBA1-4F55-BD93-F8A549FC2449}"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2CD50F2-F0FA-447C-BA7A-395BDC9022F8}" type="datetimeFigureOut">
              <a:rPr lang="en-US" smtClean="0"/>
              <a:t>12-Dec-13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F5E5D-DBA1-4F55-BD93-F8A549FC2449}" type="slidenum">
              <a:rPr lang="en-US" smtClean="0"/>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62CD50F2-F0FA-447C-BA7A-395BDC9022F8}" type="datetimeFigureOut">
              <a:rPr lang="en-US" smtClean="0"/>
              <a:t>12-Dec-13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1F5E5D-DBA1-4F55-BD93-F8A549FC2449}" type="slidenum">
              <a:rPr lang="en-US" smtClean="0"/>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2CD50F2-F0FA-447C-BA7A-395BDC9022F8}" type="datetimeFigureOut">
              <a:rPr lang="en-US" smtClean="0"/>
              <a:t>12-Dec-13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CD50F2-F0FA-447C-BA7A-395BDC9022F8}" type="datetimeFigureOut">
              <a:rPr lang="en-US" smtClean="0"/>
              <a:t>12-Dec-13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CD50F2-F0FA-447C-BA7A-395BDC9022F8}" type="datetimeFigureOut">
              <a:rPr lang="en-US" smtClean="0"/>
              <a:t>12-Dec-13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CD50F2-F0FA-447C-BA7A-395BDC9022F8}" type="datetimeFigureOut">
              <a:rPr lang="en-US" smtClean="0"/>
              <a:t>12-Dec-13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62CD50F2-F0FA-447C-BA7A-395BDC9022F8}" type="datetimeFigureOut">
              <a:rPr lang="en-US" smtClean="0"/>
              <a:t>12-Dec-13</a:t>
            </a:fld>
            <a:endParaRPr lang="en-US"/>
          </a:p>
        </p:txBody>
      </p:sp>
      <p:sp>
        <p:nvSpPr>
          <p:cNvPr id="8" name="Slide Number Placeholder 7"/>
          <p:cNvSpPr>
            <a:spLocks noGrp="1"/>
          </p:cNvSpPr>
          <p:nvPr>
            <p:ph type="sldNum" sz="quarter" idx="11"/>
          </p:nvPr>
        </p:nvSpPr>
        <p:spPr/>
        <p:txBody>
          <a:bodyPr/>
          <a:lstStyle/>
          <a:p>
            <a:fld id="{061F5E5D-DBA1-4F55-BD93-F8A549FC2449}"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2CD50F2-F0FA-447C-BA7A-395BDC9022F8}" type="datetimeFigureOut">
              <a:rPr lang="en-US" smtClean="0"/>
              <a:t>12-Dec-13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F5E5D-DBA1-4F55-BD93-F8A549FC2449}" type="slidenum">
              <a:rPr lang="en-US" smtClean="0"/>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62CD50F2-F0FA-447C-BA7A-395BDC9022F8}" type="datetimeFigureOut">
              <a:rPr lang="en-US" smtClean="0"/>
              <a:t>12-Dec-13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1F5E5D-DBA1-4F55-BD93-F8A549FC2449}" type="slidenum">
              <a:rPr lang="en-US" smtClean="0"/>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2CD50F2-F0FA-447C-BA7A-395BDC9022F8}" type="datetimeFigureOut">
              <a:rPr lang="en-US" smtClean="0"/>
              <a:t>12-Dec-13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CD50F2-F0FA-447C-BA7A-395BDC9022F8}" type="datetimeFigureOut">
              <a:rPr lang="en-US" smtClean="0"/>
              <a:t>12-Dec-13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CD50F2-F0FA-447C-BA7A-395BDC9022F8}" type="datetimeFigureOut">
              <a:rPr lang="en-US" smtClean="0"/>
              <a:t>12-Dec-13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CD50F2-F0FA-447C-BA7A-395BDC9022F8}" type="datetimeFigureOut">
              <a:rPr lang="en-US" smtClean="0"/>
              <a:t>12-Dec-13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CD50F2-F0FA-447C-BA7A-395BDC9022F8}" type="datetimeFigureOut">
              <a:rPr lang="en-US" smtClean="0"/>
              <a:t>12-Dec-13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F5E5D-DBA1-4F55-BD93-F8A549FC244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CD50F2-F0FA-447C-BA7A-395BDC9022F8}" type="datetimeFigureOut">
              <a:rPr lang="en-US" smtClean="0"/>
              <a:t>12-Dec-13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1F5E5D-DBA1-4F55-BD93-F8A549FC2449}" type="slidenum">
              <a:rPr lang="en-US" smtClean="0"/>
              <a:t>‹#›</a:t>
            </a:fld>
            <a:endParaRPr lang="en-US"/>
          </a:p>
        </p:txBody>
      </p:sp>
    </p:spTree>
    <p:extLst>
      <p:ext uri="{BB962C8B-B14F-4D97-AF65-F5344CB8AC3E}">
        <p14:creationId xmlns:p14="http://schemas.microsoft.com/office/powerpoint/2010/main" val="401451203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CD50F2-F0FA-447C-BA7A-395BDC9022F8}" type="datetimeFigureOut">
              <a:rPr lang="en-US" smtClean="0"/>
              <a:t>12-Dec-13</a:t>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061F5E5D-DBA1-4F55-BD93-F8A549FC2449}" type="slidenum">
              <a:rPr lang="en-US" smtClean="0"/>
              <a:t>‹#›</a:t>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CD50F2-F0FA-447C-BA7A-395BDC9022F8}" type="datetimeFigureOut">
              <a:rPr lang="en-US" smtClean="0"/>
              <a:t>12-Dec-13</a:t>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061F5E5D-DBA1-4F55-BD93-F8A549FC2449}" type="slidenum">
              <a:rPr lang="en-US" smtClean="0"/>
              <a:t>‹#›</a:t>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hyperlink" Target="http://www.neurosciencemarketing.com/blog/articles/metaphor-marketing.htm" TargetMode="External"/><Relationship Id="rId13" Type="http://schemas.openxmlformats.org/officeDocument/2006/relationships/hyperlink" Target="http://www.youtube.com/user/nlpcopywriting?feature=watch" TargetMode="External"/><Relationship Id="rId3" Type="http://schemas.openxmlformats.org/officeDocument/2006/relationships/hyperlink" Target="http://blog.nlp-techniques.com/2010/06/17-of-the-worlds-most-powerful-written-persuasion-techniques/" TargetMode="External"/><Relationship Id="rId7" Type="http://schemas.openxmlformats.org/officeDocument/2006/relationships/hyperlink" Target="http://blog.nlp-techniques.com/2007/12/nlp-copywriting-tips-using-linguistic-binds-in-your-ads/" TargetMode="External"/><Relationship Id="rId12" Type="http://schemas.openxmlformats.org/officeDocument/2006/relationships/hyperlink" Target="http://nlpcopywriting.com/" TargetMode="External"/><Relationship Id="rId2" Type="http://schemas.openxmlformats.org/officeDocument/2006/relationships/hyperlink" Target="http://downloads.helpscout.net/HelpScout-10WaystoConvertCustomers.pdf" TargetMode="External"/><Relationship Id="rId1" Type="http://schemas.openxmlformats.org/officeDocument/2006/relationships/slideLayout" Target="../slideLayouts/slideLayout13.xml"/><Relationship Id="rId6" Type="http://schemas.openxmlformats.org/officeDocument/2006/relationships/hyperlink" Target="http://www.neurosciencemarketing.com/blog/articles/sex-lies.htm" TargetMode="External"/><Relationship Id="rId11" Type="http://schemas.openxmlformats.org/officeDocument/2006/relationships/hyperlink" Target="http://www.neurosciencemarketing.com/blog/" TargetMode="External"/><Relationship Id="rId5" Type="http://schemas.openxmlformats.org/officeDocument/2006/relationships/hyperlink" Target="http://blog.kissmetrics.com/5-psychological-studies/?utm_source=feedburner&amp;utm_medium=feed&amp;utm_campaign=Feed%3A+KISSmetrics+%28KISSmetrics+Marketing+Blog%29&amp;utm_content=Google+Reader" TargetMode="External"/><Relationship Id="rId15" Type="http://schemas.openxmlformats.org/officeDocument/2006/relationships/image" Target="../media/image20.jpeg"/><Relationship Id="rId10" Type="http://schemas.openxmlformats.org/officeDocument/2006/relationships/hyperlink" Target="http://blog.nlp-techniques.com/" TargetMode="External"/><Relationship Id="rId4" Type="http://schemas.openxmlformats.org/officeDocument/2006/relationships/hyperlink" Target="http://www.jumplead.com/blog/2012/08/13-neuromarketing-lead-generation-tools-to-convert-customers-and-one-that-isnt#.Uqljg_lmh8H" TargetMode="External"/><Relationship Id="rId9" Type="http://schemas.openxmlformats.org/officeDocument/2006/relationships/hyperlink" Target="http://conversionxl.com/5-principles-of-persuasive-web-design/?utm_source=getresponse&amp;utm_medium=email&amp;utm_campaign=conversionxl&amp;utm_content=Keys+to+persuasive+web+design" TargetMode="External"/><Relationship Id="rId1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5"/>
            <a:ext cx="9142273" cy="68581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ctrTitle"/>
          </p:nvPr>
        </p:nvSpPr>
        <p:spPr>
          <a:xfrm>
            <a:off x="0" y="4419600"/>
            <a:ext cx="6781800" cy="1314450"/>
          </a:xfrm>
        </p:spPr>
        <p:txBody>
          <a:bodyPr>
            <a:normAutofit fontScale="90000"/>
          </a:bodyPr>
          <a:lstStyle/>
          <a:p>
            <a:r>
              <a:rPr lang="en-US" sz="2500" dirty="0" smtClean="0">
                <a:solidFill>
                  <a:schemeClr val="bg1"/>
                </a:solidFill>
              </a:rPr>
              <a:t>Introduction to</a:t>
            </a:r>
            <a:r>
              <a:rPr lang="en-US" dirty="0" smtClean="0">
                <a:solidFill>
                  <a:schemeClr val="bg1"/>
                </a:solidFill>
              </a:rPr>
              <a:t/>
            </a:r>
            <a:br>
              <a:rPr lang="en-US" dirty="0" smtClean="0">
                <a:solidFill>
                  <a:schemeClr val="bg1"/>
                </a:solidFill>
              </a:rPr>
            </a:br>
            <a:r>
              <a:rPr lang="en-US" sz="5400" b="1" dirty="0" smtClean="0">
                <a:solidFill>
                  <a:schemeClr val="accent5"/>
                </a:solidFill>
                <a:latin typeface="Times New Roman" panose="02020603050405020304" pitchFamily="18" charset="0"/>
                <a:ea typeface="Tahoma" panose="020B0604030504040204" pitchFamily="34" charset="0"/>
                <a:cs typeface="Times New Roman" panose="02020603050405020304" pitchFamily="18" charset="0"/>
              </a:rPr>
              <a:t>NEUROMARKETING</a:t>
            </a:r>
            <a:endParaRPr lang="en-US" sz="5400" b="1" dirty="0">
              <a:solidFill>
                <a:schemeClr val="accent5"/>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Subtitle 2"/>
          <p:cNvSpPr>
            <a:spLocks noGrp="1"/>
          </p:cNvSpPr>
          <p:nvPr>
            <p:ph type="subTitle" idx="1"/>
          </p:nvPr>
        </p:nvSpPr>
        <p:spPr>
          <a:xfrm>
            <a:off x="76200" y="5715000"/>
            <a:ext cx="6400800" cy="1066800"/>
          </a:xfrm>
        </p:spPr>
        <p:txBody>
          <a:bodyPr>
            <a:normAutofit fontScale="92500" lnSpcReduction="10000"/>
          </a:bodyPr>
          <a:lstStyle/>
          <a:p>
            <a:r>
              <a:rPr lang="en-US" sz="2400" dirty="0" smtClean="0">
                <a:solidFill>
                  <a:schemeClr val="bg1"/>
                </a:solidFill>
              </a:rPr>
              <a:t>OR</a:t>
            </a:r>
          </a:p>
          <a:p>
            <a:r>
              <a:rPr lang="en-US" sz="2400" dirty="0" smtClean="0">
                <a:solidFill>
                  <a:schemeClr val="bg1"/>
                </a:solidFill>
              </a:rPr>
              <a:t>Some Psychological Methods that Can Help to Improve the Conversion Rate.</a:t>
            </a:r>
            <a:endParaRPr lang="en-US" sz="2400" dirty="0">
              <a:solidFill>
                <a:schemeClr val="bg1"/>
              </a:solidFill>
            </a:endParaRPr>
          </a:p>
        </p:txBody>
      </p:sp>
    </p:spTree>
    <p:extLst>
      <p:ext uri="{BB962C8B-B14F-4D97-AF65-F5344CB8AC3E}">
        <p14:creationId xmlns:p14="http://schemas.microsoft.com/office/powerpoint/2010/main" val="321341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0" y="3170172"/>
            <a:ext cx="4572000" cy="944628"/>
          </a:xfrm>
        </p:spPr>
        <p:txBody>
          <a:bodyPr>
            <a:normAutofit fontScale="90000"/>
          </a:bodyPr>
          <a:lstStyle/>
          <a:p>
            <a:r>
              <a:rPr lang="en-US" sz="5600" b="1" dirty="0" smtClean="0">
                <a:solidFill>
                  <a:schemeClr val="tx1"/>
                </a:solidFill>
                <a:latin typeface="Calibri" panose="020F0502020204030204" pitchFamily="34" charset="0"/>
                <a:cs typeface="Arial" panose="020B0604020202020204" pitchFamily="34" charset="0"/>
              </a:rPr>
              <a:t>What is it?</a:t>
            </a:r>
            <a:r>
              <a:rPr lang="en-US" sz="5600" dirty="0" smtClean="0">
                <a:solidFill>
                  <a:schemeClr val="tx1"/>
                </a:solidFill>
                <a:latin typeface="Calibri" panose="020F0502020204030204" pitchFamily="34" charset="0"/>
                <a:cs typeface="Arial" panose="020B0604020202020204" pitchFamily="34" charset="0"/>
              </a:rPr>
              <a:t> </a:t>
            </a:r>
            <a:r>
              <a:rPr lang="en-US" dirty="0" smtClean="0">
                <a:solidFill>
                  <a:schemeClr val="tx1"/>
                </a:solidFill>
                <a:latin typeface="Calibri" panose="020F0502020204030204" pitchFamily="34" charset="0"/>
                <a:cs typeface="Arial" panose="020B0604020202020204" pitchFamily="34" charset="0"/>
              </a:rPr>
              <a:t/>
            </a:r>
            <a:br>
              <a:rPr lang="en-US" dirty="0" smtClean="0">
                <a:solidFill>
                  <a:schemeClr val="tx1"/>
                </a:solidFill>
                <a:latin typeface="Calibri" panose="020F0502020204030204" pitchFamily="34" charset="0"/>
                <a:cs typeface="Arial" panose="020B0604020202020204" pitchFamily="34" charset="0"/>
              </a:rPr>
            </a:br>
            <a:endParaRPr lang="en-US" dirty="0">
              <a:solidFill>
                <a:schemeClr val="tx1"/>
              </a:solidFill>
              <a:latin typeface="Calibri" panose="020F0502020204030204" pitchFamily="34" charset="0"/>
              <a:cs typeface="Arial" panose="020B0604020202020204" pitchFamily="34" charset="0"/>
            </a:endParaRPr>
          </a:p>
        </p:txBody>
      </p:sp>
      <p:pic>
        <p:nvPicPr>
          <p:cNvPr id="6" name="Picture 2" descr="http://www.square2marketing.com/Portals/112139/images/brain-neuromarke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000"/>
            <a:ext cx="4114800" cy="2766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3434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http://conversionxl.markitektou.netdna-cdn.com/wp-content/uploads/2013/04/fl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0"/>
            <a:ext cx="5527675" cy="3692958"/>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p:cNvSpPr>
            <a:spLocks noGrp="1"/>
          </p:cNvSpPr>
          <p:nvPr>
            <p:ph idx="1"/>
          </p:nvPr>
        </p:nvSpPr>
        <p:spPr>
          <a:xfrm>
            <a:off x="457200" y="3810000"/>
            <a:ext cx="8382000" cy="2514600"/>
          </a:xfrm>
        </p:spPr>
        <p:txBody>
          <a:bodyPr>
            <a:normAutofit lnSpcReduction="10000"/>
          </a:bodyPr>
          <a:lstStyle/>
          <a:p>
            <a:r>
              <a:rPr lang="en-US" sz="2200" dirty="0">
                <a:solidFill>
                  <a:schemeClr val="tx1"/>
                </a:solidFill>
                <a:latin typeface="Calibri" panose="020F0502020204030204" pitchFamily="34" charset="0"/>
              </a:rPr>
              <a:t>Researchers installed a ‘fly’ onto urinals across different airports around the world.</a:t>
            </a:r>
          </a:p>
          <a:p>
            <a:endParaRPr lang="en-US" sz="2200" dirty="0" smtClean="0">
              <a:solidFill>
                <a:schemeClr val="tx1"/>
              </a:solidFill>
              <a:latin typeface="Calibri" panose="020F0502020204030204" pitchFamily="34" charset="0"/>
            </a:endParaRPr>
          </a:p>
          <a:p>
            <a:pPr marL="0" indent="0">
              <a:buNone/>
            </a:pPr>
            <a:r>
              <a:rPr lang="en-US" sz="2200" dirty="0" smtClean="0">
                <a:solidFill>
                  <a:schemeClr val="tx1"/>
                </a:solidFill>
                <a:latin typeface="Calibri" panose="020F0502020204030204" pitchFamily="34" charset="0"/>
              </a:rPr>
              <a:t>The </a:t>
            </a:r>
            <a:r>
              <a:rPr lang="en-US" sz="2200" dirty="0">
                <a:solidFill>
                  <a:schemeClr val="tx1"/>
                </a:solidFill>
                <a:latin typeface="Calibri" panose="020F0502020204030204" pitchFamily="34" charset="0"/>
              </a:rPr>
              <a:t>presence of a fly in a urinal literally changes human behavior. How come? Apparently men have an instinct to aim. When flies were introduced at Schiphol Airport in Amsterdam, spillage rates dropped 80 percent (don’t want to know how they measured it).</a:t>
            </a:r>
          </a:p>
        </p:txBody>
      </p:sp>
    </p:spTree>
    <p:extLst>
      <p:ext uri="{BB962C8B-B14F-4D97-AF65-F5344CB8AC3E}">
        <p14:creationId xmlns:p14="http://schemas.microsoft.com/office/powerpoint/2010/main" val="268799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305800" cy="5486400"/>
          </a:xfrm>
        </p:spPr>
        <p:txBody>
          <a:bodyPr>
            <a:noAutofit/>
          </a:bodyPr>
          <a:lstStyle/>
          <a:p>
            <a:r>
              <a:rPr lang="en-US" sz="2200" dirty="0" smtClean="0">
                <a:solidFill>
                  <a:schemeClr val="tx1"/>
                </a:solidFill>
                <a:latin typeface="Calibri" panose="020F0502020204030204" pitchFamily="34" charset="0"/>
              </a:rPr>
              <a:t>It is </a:t>
            </a:r>
            <a:r>
              <a:rPr lang="en-US" sz="2200" dirty="0">
                <a:solidFill>
                  <a:schemeClr val="tx1"/>
                </a:solidFill>
                <a:latin typeface="Calibri" panose="020F0502020204030204" pitchFamily="34" charset="0"/>
              </a:rPr>
              <a:t>a new field of marketing research that studies </a:t>
            </a:r>
            <a:r>
              <a:rPr lang="en-US" sz="2200" dirty="0" smtClean="0">
                <a:solidFill>
                  <a:schemeClr val="tx1"/>
                </a:solidFill>
                <a:latin typeface="Calibri" panose="020F0502020204030204" pitchFamily="34" charset="0"/>
              </a:rPr>
              <a:t>consumers‘ sensorimotor, cognitive</a:t>
            </a:r>
            <a:r>
              <a:rPr lang="en-US" sz="2200" dirty="0">
                <a:solidFill>
                  <a:schemeClr val="tx1"/>
                </a:solidFill>
                <a:latin typeface="Calibri" panose="020F0502020204030204" pitchFamily="34" charset="0"/>
              </a:rPr>
              <a:t>, and affective response to marketing stimuli</a:t>
            </a:r>
            <a:r>
              <a:rPr lang="en-US" sz="2200" dirty="0" smtClean="0">
                <a:solidFill>
                  <a:schemeClr val="tx1"/>
                </a:solidFill>
                <a:latin typeface="Calibri" panose="020F0502020204030204" pitchFamily="34" charset="0"/>
              </a:rPr>
              <a:t>.</a:t>
            </a:r>
          </a:p>
          <a:p>
            <a:endParaRPr lang="en-US" sz="2200" dirty="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Researchers </a:t>
            </a:r>
            <a:r>
              <a:rPr lang="en-US" sz="2200" dirty="0">
                <a:solidFill>
                  <a:schemeClr val="tx1"/>
                </a:solidFill>
                <a:latin typeface="Calibri" panose="020F0502020204030204" pitchFamily="34" charset="0"/>
              </a:rPr>
              <a:t>use </a:t>
            </a:r>
            <a:r>
              <a:rPr lang="en-US" sz="2200" dirty="0" smtClean="0">
                <a:solidFill>
                  <a:schemeClr val="tx1"/>
                </a:solidFill>
                <a:latin typeface="Calibri" panose="020F0502020204030204" pitchFamily="34" charset="0"/>
              </a:rPr>
              <a:t>different technologies to </a:t>
            </a:r>
            <a:r>
              <a:rPr lang="en-US" sz="2200" dirty="0">
                <a:solidFill>
                  <a:schemeClr val="tx1"/>
                </a:solidFill>
                <a:latin typeface="Calibri" panose="020F0502020204030204" pitchFamily="34" charset="0"/>
              </a:rPr>
              <a:t>measure activity </a:t>
            </a:r>
            <a:r>
              <a:rPr lang="en-US" sz="2200" dirty="0" smtClean="0">
                <a:solidFill>
                  <a:schemeClr val="tx1"/>
                </a:solidFill>
                <a:latin typeface="Calibri" panose="020F0502020204030204" pitchFamily="34" charset="0"/>
              </a:rPr>
              <a:t>and changes </a:t>
            </a:r>
            <a:r>
              <a:rPr lang="en-US" sz="2200" dirty="0">
                <a:solidFill>
                  <a:schemeClr val="tx1"/>
                </a:solidFill>
                <a:latin typeface="Calibri" panose="020F0502020204030204" pitchFamily="34" charset="0"/>
              </a:rPr>
              <a:t>in one's physiological </a:t>
            </a:r>
            <a:r>
              <a:rPr lang="en-US" sz="2200" dirty="0" smtClean="0">
                <a:solidFill>
                  <a:schemeClr val="tx1"/>
                </a:solidFill>
                <a:latin typeface="Calibri" panose="020F0502020204030204" pitchFamily="34" charset="0"/>
              </a:rPr>
              <a:t>state </a:t>
            </a:r>
            <a:r>
              <a:rPr lang="en-US" sz="2200" dirty="0">
                <a:solidFill>
                  <a:schemeClr val="tx1"/>
                </a:solidFill>
                <a:latin typeface="Calibri" panose="020F0502020204030204" pitchFamily="34" charset="0"/>
              </a:rPr>
              <a:t>to learn why consumers make the decisions they </a:t>
            </a:r>
            <a:r>
              <a:rPr lang="en-US" sz="2200" dirty="0" smtClean="0">
                <a:solidFill>
                  <a:schemeClr val="tx1"/>
                </a:solidFill>
                <a:latin typeface="Calibri" panose="020F0502020204030204" pitchFamily="34" charset="0"/>
              </a:rPr>
              <a:t>do. </a:t>
            </a:r>
          </a:p>
          <a:p>
            <a:endParaRPr lang="en-US" sz="2200" dirty="0" smtClean="0">
              <a:solidFill>
                <a:schemeClr val="tx1"/>
              </a:solidFill>
              <a:latin typeface="Calibri" panose="020F0502020204030204" pitchFamily="34" charset="0"/>
            </a:endParaRPr>
          </a:p>
          <a:p>
            <a:r>
              <a:rPr lang="en-US" sz="2200" dirty="0">
                <a:solidFill>
                  <a:schemeClr val="tx1"/>
                </a:solidFill>
                <a:latin typeface="Calibri" panose="020F0502020204030204" pitchFamily="34" charset="0"/>
              </a:rPr>
              <a:t>It employs the latest researches and methods of psychology of advertising, in particular, Social Commerce </a:t>
            </a:r>
            <a:r>
              <a:rPr lang="en-US" sz="2200" dirty="0" err="1">
                <a:solidFill>
                  <a:schemeClr val="tx1"/>
                </a:solidFill>
                <a:latin typeface="Calibri" panose="020F0502020204030204" pitchFamily="34" charset="0"/>
              </a:rPr>
              <a:t>Psichology</a:t>
            </a:r>
            <a:r>
              <a:rPr lang="en-US" sz="2200" dirty="0">
                <a:solidFill>
                  <a:schemeClr val="tx1"/>
                </a:solidFill>
                <a:latin typeface="Calibri" panose="020F0502020204030204" pitchFamily="34" charset="0"/>
              </a:rPr>
              <a:t> and NLP (</a:t>
            </a:r>
            <a:r>
              <a:rPr lang="en-US" sz="2200" dirty="0" err="1">
                <a:solidFill>
                  <a:schemeClr val="tx1"/>
                </a:solidFill>
                <a:latin typeface="Calibri" panose="020F0502020204030204" pitchFamily="34" charset="0"/>
              </a:rPr>
              <a:t>Neuro</a:t>
            </a:r>
            <a:r>
              <a:rPr lang="en-US" sz="2200" dirty="0">
                <a:solidFill>
                  <a:schemeClr val="tx1"/>
                </a:solidFill>
                <a:latin typeface="Calibri" panose="020F0502020204030204" pitchFamily="34" charset="0"/>
              </a:rPr>
              <a:t>-linguistic Programing).</a:t>
            </a:r>
          </a:p>
          <a:p>
            <a:endParaRPr lang="en-US" sz="2200" dirty="0" smtClean="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In </a:t>
            </a:r>
            <a:r>
              <a:rPr lang="en-US" sz="2200" dirty="0">
                <a:solidFill>
                  <a:schemeClr val="tx1"/>
                </a:solidFill>
                <a:latin typeface="Calibri" panose="020F0502020204030204" pitchFamily="34" charset="0"/>
              </a:rPr>
              <a:t>fact, certain companies, particularly those with large-scale goals, have invested in their own laboratories, science personnel and / or partnerships with academia</a:t>
            </a:r>
            <a:r>
              <a:rPr lang="en-US" sz="2200" dirty="0" smtClean="0">
                <a:solidFill>
                  <a:schemeClr val="tx1"/>
                </a:solidFill>
                <a:latin typeface="Calibri" panose="020F0502020204030204" pitchFamily="34" charset="0"/>
              </a:rPr>
              <a:t>.</a:t>
            </a:r>
          </a:p>
          <a:p>
            <a:endParaRPr lang="en-US" sz="2200" dirty="0">
              <a:solidFill>
                <a:schemeClr val="tx1"/>
              </a:solidFill>
              <a:latin typeface="Calibri" panose="020F0502020204030204" pitchFamily="34" charset="0"/>
            </a:endParaRPr>
          </a:p>
        </p:txBody>
      </p:sp>
      <p:sp>
        <p:nvSpPr>
          <p:cNvPr id="4" name="Content Placeholder 2"/>
          <p:cNvSpPr txBox="1">
            <a:spLocks/>
          </p:cNvSpPr>
          <p:nvPr/>
        </p:nvSpPr>
        <p:spPr>
          <a:xfrm>
            <a:off x="457200" y="381001"/>
            <a:ext cx="8382000" cy="609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marL="0" indent="0" algn="ctr">
              <a:buNone/>
            </a:pPr>
            <a:r>
              <a:rPr lang="en-US" sz="2500" b="1" dirty="0" smtClean="0">
                <a:solidFill>
                  <a:schemeClr val="tx1"/>
                </a:solidFill>
                <a:latin typeface="Calibri" panose="020F0502020204030204" pitchFamily="34" charset="0"/>
              </a:rPr>
              <a:t>NEUROMARKETING</a:t>
            </a:r>
            <a:endParaRPr lang="en-US" sz="2500" b="1" dirty="0">
              <a:solidFill>
                <a:schemeClr val="tx1"/>
              </a:solidFill>
              <a:latin typeface="Calibri" panose="020F0502020204030204" pitchFamily="34" charset="0"/>
            </a:endParaRPr>
          </a:p>
        </p:txBody>
      </p:sp>
    </p:spTree>
    <p:extLst>
      <p:ext uri="{BB962C8B-B14F-4D97-AF65-F5344CB8AC3E}">
        <p14:creationId xmlns:p14="http://schemas.microsoft.com/office/powerpoint/2010/main" val="1154681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810000" y="3352800"/>
            <a:ext cx="5486400" cy="845488"/>
          </a:xfrm>
        </p:spPr>
        <p:txBody>
          <a:bodyPr>
            <a:noAutofit/>
          </a:bodyPr>
          <a:lstStyle/>
          <a:p>
            <a:pPr algn="l">
              <a:lnSpc>
                <a:spcPct val="100000"/>
              </a:lnSpc>
            </a:pPr>
            <a:r>
              <a:rPr lang="en-US" sz="4000" b="1" dirty="0" smtClean="0">
                <a:solidFill>
                  <a:schemeClr val="tx1"/>
                </a:solidFill>
                <a:latin typeface="Calibri" panose="020F0502020204030204" pitchFamily="34" charset="0"/>
              </a:rPr>
              <a:t>Some Psychological Techniques to convert more customers</a:t>
            </a:r>
            <a:endParaRPr lang="en-US" sz="4000" dirty="0">
              <a:solidFill>
                <a:schemeClr val="tx1"/>
              </a:solidFill>
              <a:latin typeface="Calibri" panose="020F0502020204030204" pitchFamily="34" charset="0"/>
            </a:endParaRPr>
          </a:p>
        </p:txBody>
      </p:sp>
      <p:pic>
        <p:nvPicPr>
          <p:cNvPr id="3076" name="Picture 4" descr="http://www.mediasauce.com/wp-content/uploads/2013/04/salesbrain_claims_buy.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917" t="4192" r="12126" b="18478"/>
          <a:stretch/>
        </p:blipFill>
        <p:spPr bwMode="auto">
          <a:xfrm>
            <a:off x="-1" y="1981200"/>
            <a:ext cx="3338661"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035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71800"/>
            <a:ext cx="8305800" cy="3581400"/>
          </a:xfrm>
        </p:spPr>
        <p:txBody>
          <a:bodyPr>
            <a:noAutofit/>
          </a:bodyPr>
          <a:lstStyle/>
          <a:p>
            <a:r>
              <a:rPr lang="en-US" sz="2200" dirty="0">
                <a:solidFill>
                  <a:schemeClr val="tx1"/>
                </a:solidFill>
                <a:latin typeface="Calibri" panose="020F0502020204030204" pitchFamily="34" charset="0"/>
              </a:rPr>
              <a:t>Who a person is and how they see themselves is an incredibly important influence tool, maybe the most important of them all. </a:t>
            </a:r>
            <a:endParaRPr lang="en-US" sz="2200" dirty="0" smtClean="0">
              <a:solidFill>
                <a:schemeClr val="tx1"/>
              </a:solidFill>
              <a:latin typeface="Calibri" panose="020F0502020204030204" pitchFamily="34" charset="0"/>
            </a:endParaRPr>
          </a:p>
          <a:p>
            <a:endParaRPr lang="en-US" sz="2200" dirty="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If </a:t>
            </a:r>
            <a:r>
              <a:rPr lang="en-US" sz="2200" dirty="0">
                <a:solidFill>
                  <a:schemeClr val="tx1"/>
                </a:solidFill>
                <a:latin typeface="Calibri" panose="020F0502020204030204" pitchFamily="34" charset="0"/>
              </a:rPr>
              <a:t>you can tie in what you want with what their identity would do in a similar situation, you’d have a very good chance of getting him or her to do it.</a:t>
            </a:r>
          </a:p>
        </p:txBody>
      </p:sp>
      <p:pic>
        <p:nvPicPr>
          <p:cNvPr id="4" name="Picture 2" descr="http://fc08.deviantart.net/fs71/i/2012/263/2/2/identity_crisis_cat_by_sebreg-d5fcofy.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6091"/>
          <a:stretch/>
        </p:blipFill>
        <p:spPr bwMode="auto">
          <a:xfrm>
            <a:off x="0" y="0"/>
            <a:ext cx="2746089" cy="248426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Appeal to Their Identity.</a:t>
            </a:r>
            <a:endParaRPr lang="en-US" sz="3000" dirty="0">
              <a:solidFill>
                <a:schemeClr val="tx1"/>
              </a:solidFill>
              <a:latin typeface="Calibri" panose="020F0502020204030204" pitchFamily="34" charset="0"/>
            </a:endParaRPr>
          </a:p>
        </p:txBody>
      </p:sp>
    </p:spTree>
    <p:extLst>
      <p:ext uri="{BB962C8B-B14F-4D97-AF65-F5344CB8AC3E}">
        <p14:creationId xmlns:p14="http://schemas.microsoft.com/office/powerpoint/2010/main" val="3696117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71800"/>
            <a:ext cx="7924800" cy="3581400"/>
          </a:xfrm>
        </p:spPr>
        <p:txBody>
          <a:bodyPr>
            <a:noAutofit/>
          </a:bodyPr>
          <a:lstStyle/>
          <a:p>
            <a:r>
              <a:rPr lang="en-US" sz="2200" dirty="0">
                <a:solidFill>
                  <a:schemeClr val="tx1"/>
                </a:solidFill>
                <a:latin typeface="Calibri" panose="020F0502020204030204" pitchFamily="34" charset="0"/>
              </a:rPr>
              <a:t>Another use of the Appeal to Their Identity is the use of Labels. We are suggesting you label your customers!</a:t>
            </a:r>
            <a:endParaRPr lang="en-US" sz="2200" dirty="0" smtClean="0">
              <a:solidFill>
                <a:schemeClr val="tx1"/>
              </a:solidFill>
              <a:latin typeface="Calibri" panose="020F0502020204030204" pitchFamily="34" charset="0"/>
            </a:endParaRPr>
          </a:p>
          <a:p>
            <a:endParaRPr lang="en-US" sz="2200" dirty="0">
              <a:solidFill>
                <a:schemeClr val="tx1"/>
              </a:solidFill>
              <a:latin typeface="Calibri" panose="020F0502020204030204" pitchFamily="34" charset="0"/>
            </a:endParaRPr>
          </a:p>
          <a:p>
            <a:r>
              <a:rPr lang="en-US" sz="2200" dirty="0">
                <a:solidFill>
                  <a:schemeClr val="tx1"/>
                </a:solidFill>
                <a:latin typeface="Calibri" panose="020F0502020204030204" pitchFamily="34" charset="0"/>
              </a:rPr>
              <a:t>Research has shown that people like being labeled, and </a:t>
            </a:r>
            <a:r>
              <a:rPr lang="en-US" sz="2200" dirty="0" smtClean="0">
                <a:solidFill>
                  <a:schemeClr val="tx1"/>
                </a:solidFill>
                <a:latin typeface="Calibri" panose="020F0502020204030204" pitchFamily="34" charset="0"/>
              </a:rPr>
              <a:t>they are </a:t>
            </a:r>
            <a:r>
              <a:rPr lang="en-US" sz="2200" dirty="0">
                <a:solidFill>
                  <a:schemeClr val="tx1"/>
                </a:solidFill>
                <a:latin typeface="Calibri" panose="020F0502020204030204" pitchFamily="34" charset="0"/>
              </a:rPr>
              <a:t>more inclined to participate in their “group’s” message if </a:t>
            </a:r>
            <a:r>
              <a:rPr lang="en-US" sz="2200" dirty="0" smtClean="0">
                <a:solidFill>
                  <a:schemeClr val="tx1"/>
                </a:solidFill>
                <a:latin typeface="Calibri" panose="020F0502020204030204" pitchFamily="34" charset="0"/>
              </a:rPr>
              <a:t> they </a:t>
            </a:r>
            <a:r>
              <a:rPr lang="en-US" sz="2200" dirty="0">
                <a:solidFill>
                  <a:schemeClr val="tx1"/>
                </a:solidFill>
                <a:latin typeface="Calibri" panose="020F0502020204030204" pitchFamily="34" charset="0"/>
              </a:rPr>
              <a:t>feel included.</a:t>
            </a:r>
          </a:p>
        </p:txBody>
      </p:sp>
      <p:sp>
        <p:nvSpPr>
          <p:cNvPr id="6" name="Title 1"/>
          <p:cNvSpPr>
            <a:spLocks noGrp="1"/>
          </p:cNvSpPr>
          <p:nvPr>
            <p:ph type="title"/>
          </p:nvPr>
        </p:nvSpPr>
        <p:spPr>
          <a:xfrm>
            <a:off x="3124200" y="1212575"/>
            <a:ext cx="5486400" cy="768625"/>
          </a:xfrm>
        </p:spPr>
        <p:txBody>
          <a:bodyPr>
            <a:noAutofit/>
          </a:bodyPr>
          <a:lstStyle/>
          <a:p>
            <a:pPr algn="l">
              <a:lnSpc>
                <a:spcPct val="100000"/>
              </a:lnSpc>
            </a:pPr>
            <a:r>
              <a:rPr lang="en-US" sz="3000" b="1" dirty="0">
                <a:solidFill>
                  <a:schemeClr val="tx1"/>
                </a:solidFill>
                <a:latin typeface="Calibri" panose="020F0502020204030204" pitchFamily="34" charset="0"/>
              </a:rPr>
              <a:t>Appeal to Their Identity.</a:t>
            </a:r>
            <a:br>
              <a:rPr lang="en-US" sz="3000" b="1" dirty="0">
                <a:solidFill>
                  <a:schemeClr val="tx1"/>
                </a:solidFill>
                <a:latin typeface="Calibri" panose="020F0502020204030204" pitchFamily="34" charset="0"/>
              </a:rPr>
            </a:br>
            <a:r>
              <a:rPr lang="en-US" sz="2500" dirty="0">
                <a:solidFill>
                  <a:schemeClr val="tx1"/>
                </a:solidFill>
                <a:latin typeface="Calibri" panose="020F0502020204030204" pitchFamily="34" charset="0"/>
              </a:rPr>
              <a:t>Embrace the Power of </a:t>
            </a:r>
            <a:r>
              <a:rPr lang="en-US" sz="2500" dirty="0" smtClean="0">
                <a:solidFill>
                  <a:schemeClr val="tx1"/>
                </a:solidFill>
                <a:latin typeface="Calibri" panose="020F0502020204030204" pitchFamily="34" charset="0"/>
              </a:rPr>
              <a:t>Labels.</a:t>
            </a:r>
            <a:endParaRPr lang="en-US" sz="2500" dirty="0">
              <a:solidFill>
                <a:schemeClr val="tx1"/>
              </a:solidFill>
              <a:latin typeface="Calibri" panose="020F0502020204030204" pitchFamily="34" charset="0"/>
            </a:endParaRPr>
          </a:p>
        </p:txBody>
      </p:sp>
      <p:pic>
        <p:nvPicPr>
          <p:cNvPr id="14338" name="Picture 2" descr="http://thumbs.dreamstime.com/z/xxxl-size-clothing-label-tag-black-isolated-27791596.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0" b="90000" l="10000" r="90000"/>
                    </a14:imgEffect>
                  </a14:imgLayer>
                </a14:imgProps>
              </a:ext>
              <a:ext uri="{28A0092B-C50C-407E-A947-70E740481C1C}">
                <a14:useLocalDpi xmlns:a14="http://schemas.microsoft.com/office/drawing/2010/main" val="0"/>
              </a:ext>
            </a:extLst>
          </a:blip>
          <a:srcRect/>
          <a:stretch>
            <a:fillRect/>
          </a:stretch>
        </p:blipFill>
        <p:spPr bwMode="auto">
          <a:xfrm>
            <a:off x="152400" y="0"/>
            <a:ext cx="2819400"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3090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71800"/>
            <a:ext cx="7924800" cy="3581400"/>
          </a:xfrm>
        </p:spPr>
        <p:txBody>
          <a:bodyPr>
            <a:noAutofit/>
          </a:bodyPr>
          <a:lstStyle/>
          <a:p>
            <a:pPr marL="0" indent="0">
              <a:buNone/>
            </a:pPr>
            <a:r>
              <a:rPr lang="en-US" sz="2200" dirty="0">
                <a:solidFill>
                  <a:schemeClr val="tx1"/>
                </a:solidFill>
                <a:latin typeface="Calibri" panose="020F0502020204030204" pitchFamily="34" charset="0"/>
              </a:rPr>
              <a:t>Here are a couple of examples I might use when selling to dog owners:</a:t>
            </a:r>
          </a:p>
          <a:p>
            <a:endParaRPr lang="en-US" sz="2200" dirty="0">
              <a:solidFill>
                <a:schemeClr val="tx1"/>
              </a:solidFill>
              <a:latin typeface="Calibri" panose="020F0502020204030204" pitchFamily="34" charset="0"/>
            </a:endParaRPr>
          </a:p>
          <a:p>
            <a:pPr marL="0" indent="0">
              <a:buNone/>
            </a:pPr>
            <a:r>
              <a:rPr lang="en-US" sz="2200" dirty="0">
                <a:solidFill>
                  <a:schemeClr val="tx1"/>
                </a:solidFill>
                <a:latin typeface="Calibri" panose="020F0502020204030204" pitchFamily="34" charset="0"/>
              </a:rPr>
              <a:t>• Pet parents always serve their dogs Special-J Dog Food.</a:t>
            </a:r>
          </a:p>
          <a:p>
            <a:endParaRPr lang="en-US" sz="2200" dirty="0">
              <a:solidFill>
                <a:schemeClr val="tx1"/>
              </a:solidFill>
              <a:latin typeface="Calibri" panose="020F0502020204030204" pitchFamily="34" charset="0"/>
            </a:endParaRPr>
          </a:p>
          <a:p>
            <a:pPr marL="0" indent="0">
              <a:buNone/>
            </a:pPr>
            <a:r>
              <a:rPr lang="en-US" sz="2200" dirty="0">
                <a:solidFill>
                  <a:schemeClr val="tx1"/>
                </a:solidFill>
                <a:latin typeface="Calibri" panose="020F0502020204030204" pitchFamily="34" charset="0"/>
              </a:rPr>
              <a:t>• Caring pet owners feed their dogs Special-J Dog Food.</a:t>
            </a:r>
          </a:p>
        </p:txBody>
      </p:sp>
      <p:sp>
        <p:nvSpPr>
          <p:cNvPr id="5" name="Title 1"/>
          <p:cNvSpPr>
            <a:spLocks noGrp="1"/>
          </p:cNvSpPr>
          <p:nvPr>
            <p:ph type="title"/>
          </p:nvPr>
        </p:nvSpPr>
        <p:spPr>
          <a:xfrm>
            <a:off x="3124200" y="1212575"/>
            <a:ext cx="5486400" cy="768625"/>
          </a:xfrm>
        </p:spPr>
        <p:txBody>
          <a:bodyPr>
            <a:noAutofit/>
          </a:bodyPr>
          <a:lstStyle/>
          <a:p>
            <a:pPr algn="l">
              <a:lnSpc>
                <a:spcPct val="100000"/>
              </a:lnSpc>
            </a:pPr>
            <a:r>
              <a:rPr lang="en-US" sz="3000" b="1" dirty="0">
                <a:solidFill>
                  <a:schemeClr val="tx1"/>
                </a:solidFill>
                <a:latin typeface="Calibri" panose="020F0502020204030204" pitchFamily="34" charset="0"/>
              </a:rPr>
              <a:t>Appeal to Their Identity.</a:t>
            </a:r>
            <a:br>
              <a:rPr lang="en-US" sz="3000" b="1" dirty="0">
                <a:solidFill>
                  <a:schemeClr val="tx1"/>
                </a:solidFill>
                <a:latin typeface="Calibri" panose="020F0502020204030204" pitchFamily="34" charset="0"/>
              </a:rPr>
            </a:br>
            <a:r>
              <a:rPr lang="en-US" sz="2500" dirty="0">
                <a:solidFill>
                  <a:schemeClr val="tx1"/>
                </a:solidFill>
                <a:latin typeface="Calibri" panose="020F0502020204030204" pitchFamily="34" charset="0"/>
              </a:rPr>
              <a:t>Embrace the Power of </a:t>
            </a:r>
            <a:r>
              <a:rPr lang="en-US" sz="2500" dirty="0" smtClean="0">
                <a:solidFill>
                  <a:schemeClr val="tx1"/>
                </a:solidFill>
                <a:latin typeface="Calibri" panose="020F0502020204030204" pitchFamily="34" charset="0"/>
              </a:rPr>
              <a:t>Labels.</a:t>
            </a:r>
            <a:endParaRPr lang="en-US" sz="2500" dirty="0">
              <a:solidFill>
                <a:schemeClr val="tx1"/>
              </a:solidFill>
              <a:latin typeface="Calibri" panose="020F0502020204030204" pitchFamily="34" charset="0"/>
            </a:endParaRPr>
          </a:p>
        </p:txBody>
      </p:sp>
      <p:pic>
        <p:nvPicPr>
          <p:cNvPr id="6" name="Picture 2" descr="http://thumbs.dreamstime.com/z/xxxl-size-clothing-label-tag-black-isolated-27791596.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0" b="90000" l="10000" r="90000"/>
                    </a14:imgEffect>
                  </a14:imgLayer>
                </a14:imgProps>
              </a:ext>
              <a:ext uri="{28A0092B-C50C-407E-A947-70E740481C1C}">
                <a14:useLocalDpi xmlns:a14="http://schemas.microsoft.com/office/drawing/2010/main" val="0"/>
              </a:ext>
            </a:extLst>
          </a:blip>
          <a:srcRect/>
          <a:stretch>
            <a:fillRect/>
          </a:stretch>
        </p:blipFill>
        <p:spPr bwMode="auto">
          <a:xfrm>
            <a:off x="152400" y="0"/>
            <a:ext cx="2819400"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285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71800"/>
            <a:ext cx="7924800" cy="3581400"/>
          </a:xfrm>
        </p:spPr>
        <p:txBody>
          <a:bodyPr>
            <a:noAutofit/>
          </a:bodyPr>
          <a:lstStyle/>
          <a:p>
            <a:pPr marL="0" indent="0">
              <a:buNone/>
            </a:pPr>
            <a:r>
              <a:rPr lang="en-US" sz="2200" dirty="0">
                <a:solidFill>
                  <a:schemeClr val="tx1"/>
                </a:solidFill>
                <a:latin typeface="Calibri" panose="020F0502020204030204" pitchFamily="34" charset="0"/>
              </a:rPr>
              <a:t>Combining a gift with </a:t>
            </a:r>
            <a:r>
              <a:rPr lang="en-US" sz="2200" dirty="0" smtClean="0">
                <a:solidFill>
                  <a:schemeClr val="tx1"/>
                </a:solidFill>
                <a:latin typeface="Calibri" panose="020F0502020204030204" pitchFamily="34" charset="0"/>
              </a:rPr>
              <a:t>personalization </a:t>
            </a:r>
            <a:r>
              <a:rPr lang="en-US" sz="2200" dirty="0">
                <a:solidFill>
                  <a:schemeClr val="tx1"/>
                </a:solidFill>
                <a:latin typeface="Calibri" panose="020F0502020204030204" pitchFamily="34" charset="0"/>
              </a:rPr>
              <a:t>is like a power move. It feels like it's your birthday, that's got </a:t>
            </a:r>
            <a:r>
              <a:rPr lang="en-US" sz="2200" dirty="0" smtClean="0">
                <a:solidFill>
                  <a:schemeClr val="tx1"/>
                </a:solidFill>
                <a:latin typeface="Calibri" panose="020F0502020204030204" pitchFamily="34" charset="0"/>
              </a:rPr>
              <a:t>to </a:t>
            </a:r>
            <a:r>
              <a:rPr lang="en-US" sz="2200" dirty="0">
                <a:solidFill>
                  <a:schemeClr val="tx1"/>
                </a:solidFill>
                <a:latin typeface="Calibri" panose="020F0502020204030204" pitchFamily="34" charset="0"/>
              </a:rPr>
              <a:t>be good!</a:t>
            </a:r>
            <a:endParaRPr lang="en-US" sz="2200" dirty="0">
              <a:solidFill>
                <a:schemeClr val="tx1"/>
              </a:solidFill>
              <a:latin typeface="Calibri" panose="020F0502020204030204" pitchFamily="34" charset="0"/>
            </a:endParaRPr>
          </a:p>
        </p:txBody>
      </p:sp>
      <p:sp>
        <p:nvSpPr>
          <p:cNvPr id="6" name="Title 1"/>
          <p:cNvSpPr txBox="1">
            <a:spLocks/>
          </p:cNvSpPr>
          <p:nvPr/>
        </p:nvSpPr>
        <p:spPr>
          <a:xfrm>
            <a:off x="3124200" y="1212575"/>
            <a:ext cx="5486400" cy="768625"/>
          </a:xfrm>
          <a:prstGeom prst="rect">
            <a:avLst/>
          </a:prstGeom>
        </p:spPr>
        <p:txBody>
          <a:bodyPr vert="horz" lIns="91440" tIns="45720" rIns="91440" bIns="45720" rtlCol="0" anchor="b">
            <a:noAutofit/>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algn="l">
              <a:lnSpc>
                <a:spcPct val="100000"/>
              </a:lnSpc>
            </a:pPr>
            <a:r>
              <a:rPr lang="en-US" sz="3000" b="1" smtClean="0">
                <a:solidFill>
                  <a:schemeClr val="tx1"/>
                </a:solidFill>
                <a:latin typeface="Calibri" panose="020F0502020204030204" pitchFamily="34" charset="0"/>
              </a:rPr>
              <a:t>Combination of gift and personalization.</a:t>
            </a:r>
            <a:endParaRPr lang="en-US" sz="3000" b="1" dirty="0">
              <a:solidFill>
                <a:schemeClr val="tx1"/>
              </a:solidFill>
              <a:latin typeface="Calibri" panose="020F0502020204030204" pitchFamily="34" charset="0"/>
            </a:endParaRPr>
          </a:p>
        </p:txBody>
      </p:sp>
      <p:pic>
        <p:nvPicPr>
          <p:cNvPr id="7" name="Picture 2" descr="http://www.maxymiser.com/images/solutions/personalization-mai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2" y="0"/>
            <a:ext cx="2677602" cy="2401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724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590800"/>
            <a:ext cx="8534400" cy="3886200"/>
          </a:xfrm>
        </p:spPr>
        <p:txBody>
          <a:bodyPr>
            <a:noAutofit/>
          </a:bodyPr>
          <a:lstStyle/>
          <a:p>
            <a:pPr marL="0" indent="0">
              <a:buNone/>
            </a:pPr>
            <a:r>
              <a:rPr lang="en-US" sz="2200" dirty="0" smtClean="0">
                <a:solidFill>
                  <a:schemeClr val="tx1"/>
                </a:solidFill>
                <a:latin typeface="Calibri" panose="020F0502020204030204" pitchFamily="34" charset="0"/>
              </a:rPr>
              <a:t>Researches </a:t>
            </a:r>
            <a:r>
              <a:rPr lang="en-US" sz="2200" dirty="0" err="1" smtClean="0">
                <a:solidFill>
                  <a:schemeClr val="tx1"/>
                </a:solidFill>
                <a:latin typeface="Calibri" panose="020F0502020204030204" pitchFamily="34" charset="0"/>
              </a:rPr>
              <a:t>studdied</a:t>
            </a:r>
            <a:r>
              <a:rPr lang="en-US" sz="2200" dirty="0" smtClean="0">
                <a:solidFill>
                  <a:schemeClr val="tx1"/>
                </a:solidFill>
                <a:latin typeface="Calibri" panose="020F0502020204030204" pitchFamily="34" charset="0"/>
              </a:rPr>
              <a:t> the effect of offering a mint with the check in restaurant:</a:t>
            </a:r>
          </a:p>
          <a:p>
            <a:pPr marL="0" indent="0">
              <a:buNone/>
            </a:pPr>
            <a:endParaRPr lang="en-US" sz="2200" dirty="0" smtClean="0">
              <a:solidFill>
                <a:schemeClr val="tx1"/>
              </a:solidFill>
              <a:latin typeface="Calibri" panose="020F0502020204030204" pitchFamily="34" charset="0"/>
            </a:endParaRPr>
          </a:p>
          <a:p>
            <a:pPr marL="0" indent="0">
              <a:buNone/>
            </a:pPr>
            <a:r>
              <a:rPr lang="en-US" sz="2200" dirty="0" smtClean="0">
                <a:solidFill>
                  <a:schemeClr val="tx1"/>
                </a:solidFill>
                <a:latin typeface="Calibri" panose="020F0502020204030204" pitchFamily="34" charset="0"/>
              </a:rPr>
              <a:t>• Mints </a:t>
            </a:r>
            <a:r>
              <a:rPr lang="en-US" sz="2200" dirty="0">
                <a:solidFill>
                  <a:schemeClr val="tx1"/>
                </a:solidFill>
                <a:latin typeface="Calibri" panose="020F0502020204030204" pitchFamily="34" charset="0"/>
              </a:rPr>
              <a:t>on way out is the </a:t>
            </a:r>
            <a:r>
              <a:rPr lang="en-US" sz="2200" dirty="0" smtClean="0">
                <a:solidFill>
                  <a:schemeClr val="tx1"/>
                </a:solidFill>
                <a:latin typeface="Calibri" panose="020F0502020204030204" pitchFamily="34" charset="0"/>
              </a:rPr>
              <a:t>baseline</a:t>
            </a:r>
            <a:endParaRPr lang="en-US" sz="2200" dirty="0">
              <a:solidFill>
                <a:schemeClr val="tx1"/>
              </a:solidFill>
              <a:latin typeface="Calibri" panose="020F0502020204030204" pitchFamily="34" charset="0"/>
            </a:endParaRPr>
          </a:p>
          <a:p>
            <a:pPr marL="0" indent="0">
              <a:buNone/>
            </a:pPr>
            <a:r>
              <a:rPr lang="en-US" sz="2200" dirty="0">
                <a:solidFill>
                  <a:schemeClr val="tx1"/>
                </a:solidFill>
                <a:latin typeface="Calibri" panose="020F0502020204030204" pitchFamily="34" charset="0"/>
              </a:rPr>
              <a:t>• </a:t>
            </a:r>
            <a:r>
              <a:rPr lang="en-US" sz="2200" dirty="0" smtClean="0">
                <a:solidFill>
                  <a:schemeClr val="tx1"/>
                </a:solidFill>
                <a:latin typeface="Calibri" panose="020F0502020204030204" pitchFamily="34" charset="0"/>
              </a:rPr>
              <a:t>Mint </a:t>
            </a:r>
            <a:r>
              <a:rPr lang="en-US" sz="2200" dirty="0">
                <a:solidFill>
                  <a:schemeClr val="tx1"/>
                </a:solidFill>
                <a:latin typeface="Calibri" panose="020F0502020204030204" pitchFamily="34" charset="0"/>
              </a:rPr>
              <a:t>with check +3.3% uplift in tip value.</a:t>
            </a:r>
          </a:p>
          <a:p>
            <a:pPr marL="0" indent="0">
              <a:buNone/>
            </a:pPr>
            <a:r>
              <a:rPr lang="en-US" sz="2200" dirty="0">
                <a:solidFill>
                  <a:schemeClr val="tx1"/>
                </a:solidFill>
                <a:latin typeface="Calibri" panose="020F0502020204030204" pitchFamily="34" charset="0"/>
              </a:rPr>
              <a:t>• </a:t>
            </a:r>
            <a:r>
              <a:rPr lang="en-US" sz="2200" dirty="0" smtClean="0">
                <a:solidFill>
                  <a:schemeClr val="tx1"/>
                </a:solidFill>
                <a:latin typeface="Calibri" panose="020F0502020204030204" pitchFamily="34" charset="0"/>
              </a:rPr>
              <a:t>Waiter </a:t>
            </a:r>
            <a:r>
              <a:rPr lang="en-US" sz="2200" dirty="0">
                <a:solidFill>
                  <a:schemeClr val="tx1"/>
                </a:solidFill>
                <a:latin typeface="Calibri" panose="020F0502020204030204" pitchFamily="34" charset="0"/>
              </a:rPr>
              <a:t>offers each customer a mint (</a:t>
            </a:r>
            <a:r>
              <a:rPr lang="en-US" sz="2200" dirty="0" err="1">
                <a:solidFill>
                  <a:schemeClr val="tx1"/>
                </a:solidFill>
                <a:latin typeface="Calibri" panose="020F0502020204030204" pitchFamily="34" charset="0"/>
              </a:rPr>
              <a:t>personalisation</a:t>
            </a:r>
            <a:r>
              <a:rPr lang="en-US" sz="2200" dirty="0">
                <a:solidFill>
                  <a:schemeClr val="tx1"/>
                </a:solidFill>
                <a:latin typeface="Calibri" panose="020F0502020204030204" pitchFamily="34" charset="0"/>
              </a:rPr>
              <a:t>) before check +14.1% uplift in tip value.</a:t>
            </a:r>
          </a:p>
          <a:p>
            <a:pPr marL="0" indent="0">
              <a:buNone/>
            </a:pPr>
            <a:r>
              <a:rPr lang="en-US" sz="2200" dirty="0">
                <a:solidFill>
                  <a:schemeClr val="tx1"/>
                </a:solidFill>
                <a:latin typeface="Calibri" panose="020F0502020204030204" pitchFamily="34" charset="0"/>
              </a:rPr>
              <a:t>• </a:t>
            </a:r>
            <a:r>
              <a:rPr lang="en-US" sz="2200" dirty="0" smtClean="0">
                <a:solidFill>
                  <a:schemeClr val="tx1"/>
                </a:solidFill>
                <a:latin typeface="Calibri" panose="020F0502020204030204" pitchFamily="34" charset="0"/>
              </a:rPr>
              <a:t>Waiter </a:t>
            </a:r>
            <a:r>
              <a:rPr lang="en-US" sz="2200" dirty="0">
                <a:solidFill>
                  <a:schemeClr val="tx1"/>
                </a:solidFill>
                <a:latin typeface="Calibri" panose="020F0502020204030204" pitchFamily="34" charset="0"/>
              </a:rPr>
              <a:t>offers each customer a mint, (</a:t>
            </a:r>
            <a:r>
              <a:rPr lang="en-US" sz="2200" dirty="0" err="1">
                <a:solidFill>
                  <a:schemeClr val="tx1"/>
                </a:solidFill>
                <a:latin typeface="Calibri" panose="020F0502020204030204" pitchFamily="34" charset="0"/>
              </a:rPr>
              <a:t>personalisation</a:t>
            </a:r>
            <a:r>
              <a:rPr lang="en-US" sz="2200" dirty="0">
                <a:solidFill>
                  <a:schemeClr val="tx1"/>
                </a:solidFill>
                <a:latin typeface="Calibri" panose="020F0502020204030204" pitchFamily="34" charset="0"/>
              </a:rPr>
              <a:t>) then as he walks away he stops, returns, and offers an extra 'generous afterthought' mint to each customer (double </a:t>
            </a:r>
            <a:r>
              <a:rPr lang="en-US" sz="2200" dirty="0" err="1">
                <a:solidFill>
                  <a:schemeClr val="tx1"/>
                </a:solidFill>
                <a:latin typeface="Calibri" panose="020F0502020204030204" pitchFamily="34" charset="0"/>
              </a:rPr>
              <a:t>personalisation</a:t>
            </a:r>
            <a:r>
              <a:rPr lang="en-US" sz="2200" dirty="0">
                <a:solidFill>
                  <a:schemeClr val="tx1"/>
                </a:solidFill>
                <a:latin typeface="Calibri" panose="020F0502020204030204" pitchFamily="34" charset="0"/>
              </a:rPr>
              <a:t>). +23% uplift.</a:t>
            </a:r>
            <a:endParaRPr lang="en-US" sz="2200" dirty="0">
              <a:solidFill>
                <a:schemeClr val="tx1"/>
              </a:solidFill>
              <a:latin typeface="Calibri" panose="020F0502020204030204" pitchFamily="34" charset="0"/>
            </a:endParaRPr>
          </a:p>
        </p:txBody>
      </p:sp>
      <p:sp>
        <p:nvSpPr>
          <p:cNvPr id="5" name="Title 1"/>
          <p:cNvSpPr>
            <a:spLocks noGrp="1"/>
          </p:cNvSpPr>
          <p:nvPr>
            <p:ph type="title"/>
          </p:nvPr>
        </p:nvSpPr>
        <p:spPr>
          <a:xfrm>
            <a:off x="3124200" y="1212575"/>
            <a:ext cx="5486400" cy="768625"/>
          </a:xfrm>
        </p:spPr>
        <p:txBody>
          <a:bodyPr>
            <a:noAutofit/>
          </a:bodyPr>
          <a:lstStyle/>
          <a:p>
            <a:pPr algn="l">
              <a:lnSpc>
                <a:spcPct val="100000"/>
              </a:lnSpc>
            </a:pPr>
            <a:r>
              <a:rPr lang="en-US" sz="3000" b="1" dirty="0" smtClean="0">
                <a:solidFill>
                  <a:schemeClr val="tx1"/>
                </a:solidFill>
                <a:latin typeface="Calibri" panose="020F0502020204030204" pitchFamily="34" charset="0"/>
              </a:rPr>
              <a:t>Combination </a:t>
            </a:r>
            <a:r>
              <a:rPr lang="en-US" sz="3000" b="1" dirty="0">
                <a:solidFill>
                  <a:schemeClr val="tx1"/>
                </a:solidFill>
                <a:latin typeface="Calibri" panose="020F0502020204030204" pitchFamily="34" charset="0"/>
              </a:rPr>
              <a:t>of gift and </a:t>
            </a:r>
            <a:r>
              <a:rPr lang="en-US" sz="3000" b="1" dirty="0" smtClean="0">
                <a:solidFill>
                  <a:schemeClr val="tx1"/>
                </a:solidFill>
                <a:latin typeface="Calibri" panose="020F0502020204030204" pitchFamily="34" charset="0"/>
              </a:rPr>
              <a:t>personalization</a:t>
            </a:r>
            <a:r>
              <a:rPr lang="en-US" sz="3000" b="1" dirty="0">
                <a:solidFill>
                  <a:schemeClr val="tx1"/>
                </a:solidFill>
                <a:latin typeface="Calibri" panose="020F0502020204030204" pitchFamily="34" charset="0"/>
              </a:rPr>
              <a:t>.</a:t>
            </a:r>
            <a:endParaRPr lang="en-US" sz="3000" b="1" dirty="0">
              <a:solidFill>
                <a:schemeClr val="tx1"/>
              </a:solidFill>
              <a:latin typeface="Calibri" panose="020F0502020204030204" pitchFamily="34" charset="0"/>
            </a:endParaRPr>
          </a:p>
        </p:txBody>
      </p:sp>
      <p:pic>
        <p:nvPicPr>
          <p:cNvPr id="6146" name="Picture 2" descr="http://www.maxymiser.com/images/solutions/personalization-mai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2" y="0"/>
            <a:ext cx="2677602" cy="2401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101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Use Their Hierarchy of Values.</a:t>
            </a:r>
            <a:endParaRPr lang="en-US" sz="30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924800" cy="3581400"/>
          </a:xfrm>
        </p:spPr>
        <p:txBody>
          <a:bodyPr>
            <a:noAutofit/>
          </a:bodyPr>
          <a:lstStyle/>
          <a:p>
            <a:r>
              <a:rPr lang="en-US" sz="2200" dirty="0" smtClean="0">
                <a:solidFill>
                  <a:schemeClr val="tx1"/>
                </a:solidFill>
                <a:latin typeface="Calibri" panose="020F0502020204030204" pitchFamily="34" charset="0"/>
              </a:rPr>
              <a:t>People </a:t>
            </a:r>
            <a:r>
              <a:rPr lang="en-US" sz="2200" dirty="0">
                <a:solidFill>
                  <a:schemeClr val="tx1"/>
                </a:solidFill>
                <a:latin typeface="Calibri" panose="020F0502020204030204" pitchFamily="34" charset="0"/>
              </a:rPr>
              <a:t>place a value on practically everything. And that includes time, </a:t>
            </a:r>
            <a:r>
              <a:rPr lang="en-US" sz="2200" dirty="0" smtClean="0">
                <a:solidFill>
                  <a:schemeClr val="tx1"/>
                </a:solidFill>
                <a:latin typeface="Calibri" panose="020F0502020204030204" pitchFamily="34" charset="0"/>
              </a:rPr>
              <a:t>goods</a:t>
            </a:r>
            <a:r>
              <a:rPr lang="en-US" sz="2200" dirty="0">
                <a:solidFill>
                  <a:schemeClr val="tx1"/>
                </a:solidFill>
                <a:latin typeface="Calibri" panose="020F0502020204030204" pitchFamily="34" charset="0"/>
              </a:rPr>
              <a:t>, ideas, people, etc. But they do have priorities. </a:t>
            </a:r>
            <a:endParaRPr lang="en-US" sz="2200" dirty="0" smtClean="0">
              <a:solidFill>
                <a:schemeClr val="tx1"/>
              </a:solidFill>
              <a:latin typeface="Calibri" panose="020F0502020204030204" pitchFamily="34" charset="0"/>
            </a:endParaRPr>
          </a:p>
          <a:p>
            <a:endParaRPr lang="en-US" sz="2200" dirty="0">
              <a:solidFill>
                <a:schemeClr val="tx1"/>
              </a:solidFill>
              <a:latin typeface="Calibri" panose="020F0502020204030204" pitchFamily="34" charset="0"/>
            </a:endParaRPr>
          </a:p>
          <a:p>
            <a:r>
              <a:rPr lang="en-US" sz="2200" dirty="0">
                <a:solidFill>
                  <a:schemeClr val="tx1"/>
                </a:solidFill>
                <a:latin typeface="Calibri" panose="020F0502020204030204" pitchFamily="34" charset="0"/>
              </a:rPr>
              <a:t>Some of the fairly universal values (at least here in the west) are these: love, health, attractiveness, security, safety of family, pleasure, impressing others, happiness.</a:t>
            </a:r>
          </a:p>
        </p:txBody>
      </p:sp>
      <p:pic>
        <p:nvPicPr>
          <p:cNvPr id="6146" name="Picture 2" descr="http://www.wisdomtimes.com/wp-content/uploads/2012/10/time-value-of-money2.jpg"/>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667" b="99167" l="0" r="100000"/>
                    </a14:imgEffect>
                  </a14:imgLayer>
                </a14:imgProps>
              </a:ext>
              <a:ext uri="{28A0092B-C50C-407E-A947-70E740481C1C}">
                <a14:useLocalDpi xmlns:a14="http://schemas.microsoft.com/office/drawing/2010/main" val="0"/>
              </a:ext>
            </a:extLst>
          </a:blip>
          <a:srcRect/>
          <a:stretch>
            <a:fillRect/>
          </a:stretch>
        </p:blipFill>
        <p:spPr bwMode="auto">
          <a:xfrm>
            <a:off x="304800" y="76200"/>
            <a:ext cx="251460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9310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Use Their Hierarchy of Values.</a:t>
            </a:r>
            <a:endParaRPr lang="en-US" sz="30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924800" cy="3581400"/>
          </a:xfrm>
        </p:spPr>
        <p:txBody>
          <a:bodyPr>
            <a:noAutofit/>
          </a:bodyPr>
          <a:lstStyle/>
          <a:p>
            <a:r>
              <a:rPr lang="en-US" sz="2200" dirty="0">
                <a:solidFill>
                  <a:schemeClr val="tx1"/>
                </a:solidFill>
                <a:latin typeface="Calibri" panose="020F0502020204030204" pitchFamily="34" charset="0"/>
              </a:rPr>
              <a:t>How can you tie in what you’re offering with one or more of their highest values</a:t>
            </a:r>
            <a:r>
              <a:rPr lang="en-US" sz="2200" dirty="0" smtClean="0">
                <a:solidFill>
                  <a:schemeClr val="tx1"/>
                </a:solidFill>
                <a:latin typeface="Calibri" panose="020F0502020204030204" pitchFamily="34" charset="0"/>
              </a:rPr>
              <a:t>?</a:t>
            </a:r>
          </a:p>
          <a:p>
            <a:endParaRPr lang="en-US" sz="2200" dirty="0" smtClean="0">
              <a:solidFill>
                <a:schemeClr val="tx1"/>
              </a:solidFill>
              <a:latin typeface="Calibri" panose="020F0502020204030204" pitchFamily="34" charset="0"/>
            </a:endParaRPr>
          </a:p>
          <a:p>
            <a:pPr marL="0" indent="0">
              <a:buNone/>
            </a:pPr>
            <a:r>
              <a:rPr lang="en-US" sz="2200" dirty="0" smtClean="0">
                <a:solidFill>
                  <a:schemeClr val="tx1"/>
                </a:solidFill>
                <a:latin typeface="Calibri" panose="020F0502020204030204" pitchFamily="34" charset="0"/>
              </a:rPr>
              <a:t>An </a:t>
            </a:r>
            <a:r>
              <a:rPr lang="en-US" sz="2200" dirty="0">
                <a:solidFill>
                  <a:schemeClr val="tx1"/>
                </a:solidFill>
                <a:latin typeface="Calibri" panose="020F0502020204030204" pitchFamily="34" charset="0"/>
              </a:rPr>
              <a:t>example:</a:t>
            </a:r>
          </a:p>
          <a:p>
            <a:endParaRPr lang="en-US" sz="2200" dirty="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What’s </a:t>
            </a:r>
            <a:r>
              <a:rPr lang="en-US" sz="2200" dirty="0">
                <a:solidFill>
                  <a:schemeClr val="tx1"/>
                </a:solidFill>
                <a:latin typeface="Calibri" panose="020F0502020204030204" pitchFamily="34" charset="0"/>
              </a:rPr>
              <a:t>more important to you, saving a few bucks or your dog’s health?</a:t>
            </a:r>
          </a:p>
          <a:p>
            <a:endParaRPr lang="en-US" sz="2200" dirty="0">
              <a:solidFill>
                <a:schemeClr val="tx1"/>
              </a:solidFill>
              <a:latin typeface="Calibri" panose="020F0502020204030204" pitchFamily="34" charset="0"/>
            </a:endParaRPr>
          </a:p>
        </p:txBody>
      </p:sp>
      <p:pic>
        <p:nvPicPr>
          <p:cNvPr id="6146" name="Picture 2" descr="http://www.wisdomtimes.com/wp-content/uploads/2012/10/time-value-of-money2.jpg"/>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667" b="99167" l="0" r="100000"/>
                    </a14:imgEffect>
                  </a14:imgLayer>
                </a14:imgProps>
              </a:ext>
              <a:ext uri="{28A0092B-C50C-407E-A947-70E740481C1C}">
                <a14:useLocalDpi xmlns:a14="http://schemas.microsoft.com/office/drawing/2010/main" val="0"/>
              </a:ext>
            </a:extLst>
          </a:blip>
          <a:srcRect/>
          <a:stretch>
            <a:fillRect/>
          </a:stretch>
        </p:blipFill>
        <p:spPr bwMode="auto">
          <a:xfrm>
            <a:off x="304800" y="76200"/>
            <a:ext cx="251460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068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Invoke Emotions</a:t>
            </a:r>
            <a:endParaRPr lang="en-US" sz="30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924800" cy="3581400"/>
          </a:xfrm>
        </p:spPr>
        <p:txBody>
          <a:bodyPr>
            <a:noAutofit/>
          </a:bodyPr>
          <a:lstStyle/>
          <a:p>
            <a:r>
              <a:rPr lang="en-US" sz="2200" dirty="0" smtClean="0">
                <a:solidFill>
                  <a:schemeClr val="tx1"/>
                </a:solidFill>
                <a:latin typeface="Calibri" panose="020F0502020204030204" pitchFamily="34" charset="0"/>
              </a:rPr>
              <a:t>You </a:t>
            </a:r>
            <a:r>
              <a:rPr lang="en-US" sz="2200" dirty="0">
                <a:solidFill>
                  <a:schemeClr val="tx1"/>
                </a:solidFill>
                <a:latin typeface="Calibri" panose="020F0502020204030204" pitchFamily="34" charset="0"/>
              </a:rPr>
              <a:t>sell something by getting the prospective customers’ </a:t>
            </a:r>
            <a:r>
              <a:rPr lang="en-US" sz="2200" dirty="0" smtClean="0">
                <a:solidFill>
                  <a:schemeClr val="tx1"/>
                </a:solidFill>
                <a:latin typeface="Calibri" panose="020F0502020204030204" pitchFamily="34" charset="0"/>
              </a:rPr>
              <a:t>emotions </a:t>
            </a:r>
            <a:r>
              <a:rPr lang="en-US" sz="2200" dirty="0">
                <a:solidFill>
                  <a:schemeClr val="tx1"/>
                </a:solidFill>
                <a:latin typeface="Calibri" panose="020F0502020204030204" pitchFamily="34" charset="0"/>
              </a:rPr>
              <a:t>involved. </a:t>
            </a:r>
            <a:endParaRPr lang="en-US" sz="2200" dirty="0" smtClean="0">
              <a:solidFill>
                <a:schemeClr val="tx1"/>
              </a:solidFill>
              <a:latin typeface="Calibri" panose="020F0502020204030204" pitchFamily="34" charset="0"/>
            </a:endParaRPr>
          </a:p>
          <a:p>
            <a:endParaRPr lang="en-US" sz="2200" dirty="0" smtClean="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Positive </a:t>
            </a:r>
            <a:r>
              <a:rPr lang="en-US" sz="2200" dirty="0">
                <a:solidFill>
                  <a:schemeClr val="tx1"/>
                </a:solidFill>
                <a:latin typeface="Calibri" panose="020F0502020204030204" pitchFamily="34" charset="0"/>
              </a:rPr>
              <a:t>emotions like hope, anticipation, love, and negative emotions like anger, loneliness, disgust can spur people into action.</a:t>
            </a:r>
          </a:p>
          <a:p>
            <a:endParaRPr lang="en-US" sz="2200" dirty="0">
              <a:solidFill>
                <a:schemeClr val="tx1"/>
              </a:solidFill>
              <a:latin typeface="Calibri" panose="020F0502020204030204" pitchFamily="34" charset="0"/>
            </a:endParaRPr>
          </a:p>
        </p:txBody>
      </p:sp>
      <p:pic>
        <p:nvPicPr>
          <p:cNvPr id="11266" name="Picture 2" descr="http://api.ning.com/files/HItOKWx0tkgnTIyiYnlzaOfcTE3QztMk3qWnU2fIV5kocHOZQXjIvsaDXwXsUzSOGty9Eh3AKJjHza7Lh-DpDvTTOVh2igUr/art_of_laughter_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2667000" cy="2448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9690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Invoke Emotions</a:t>
            </a:r>
            <a:endParaRPr lang="en-US" sz="30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924800" cy="3581400"/>
          </a:xfrm>
        </p:spPr>
        <p:txBody>
          <a:bodyPr>
            <a:noAutofit/>
          </a:bodyPr>
          <a:lstStyle/>
          <a:p>
            <a:pPr marL="0" indent="0">
              <a:buNone/>
            </a:pPr>
            <a:r>
              <a:rPr lang="en-US" sz="2200" dirty="0">
                <a:solidFill>
                  <a:schemeClr val="tx1"/>
                </a:solidFill>
                <a:latin typeface="Calibri" panose="020F0502020204030204" pitchFamily="34" charset="0"/>
              </a:rPr>
              <a:t>You also need to use emotionally charged words that add impact to your writing. </a:t>
            </a:r>
          </a:p>
          <a:p>
            <a:pPr marL="0" indent="0">
              <a:buNone/>
            </a:pPr>
            <a:endParaRPr lang="en-US" sz="2200" dirty="0" smtClean="0">
              <a:solidFill>
                <a:schemeClr val="tx1"/>
              </a:solidFill>
              <a:latin typeface="Calibri" panose="020F0502020204030204" pitchFamily="34" charset="0"/>
            </a:endParaRPr>
          </a:p>
          <a:p>
            <a:pPr marL="0" indent="0">
              <a:buNone/>
            </a:pPr>
            <a:r>
              <a:rPr lang="en-US" sz="2200" dirty="0" smtClean="0">
                <a:solidFill>
                  <a:schemeClr val="tx1"/>
                </a:solidFill>
                <a:latin typeface="Calibri" panose="020F0502020204030204" pitchFamily="34" charset="0"/>
              </a:rPr>
              <a:t>An </a:t>
            </a:r>
            <a:r>
              <a:rPr lang="en-US" sz="2200" dirty="0">
                <a:solidFill>
                  <a:schemeClr val="tx1"/>
                </a:solidFill>
                <a:latin typeface="Calibri" panose="020F0502020204030204" pitchFamily="34" charset="0"/>
              </a:rPr>
              <a:t>example:</a:t>
            </a:r>
          </a:p>
          <a:p>
            <a:endParaRPr lang="en-US" sz="2200" dirty="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Show </a:t>
            </a:r>
            <a:r>
              <a:rPr lang="en-US" sz="2200" dirty="0">
                <a:solidFill>
                  <a:schemeClr val="tx1"/>
                </a:solidFill>
                <a:latin typeface="Calibri" panose="020F0502020204030204" pitchFamily="34" charset="0"/>
              </a:rPr>
              <a:t>the love for your dog that he or she shows you.</a:t>
            </a:r>
          </a:p>
          <a:p>
            <a:endParaRPr lang="en-US" sz="2200" dirty="0">
              <a:solidFill>
                <a:schemeClr val="tx1"/>
              </a:solidFill>
              <a:latin typeface="Calibri" panose="020F0502020204030204" pitchFamily="34" charset="0"/>
            </a:endParaRPr>
          </a:p>
        </p:txBody>
      </p:sp>
      <p:pic>
        <p:nvPicPr>
          <p:cNvPr id="11266" name="Picture 2" descr="http://api.ning.com/files/HItOKWx0tkgnTIyiYnlzaOfcTE3QztMk3qWnU2fIV5kocHOZQXjIvsaDXwXsUzSOGty9Eh3AKJjHza7Lh-DpDvTTOVh2igUr/art_of_laughter_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2667000" cy="2448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941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Motivate Your Reader.</a:t>
            </a:r>
            <a:endParaRPr lang="en-US" sz="30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543800" cy="3581400"/>
          </a:xfrm>
        </p:spPr>
        <p:txBody>
          <a:bodyPr>
            <a:noAutofit/>
          </a:bodyPr>
          <a:lstStyle/>
          <a:p>
            <a:r>
              <a:rPr lang="en-US" sz="2200" dirty="0">
                <a:solidFill>
                  <a:schemeClr val="tx1"/>
                </a:solidFill>
                <a:latin typeface="Calibri" panose="020F0502020204030204" pitchFamily="34" charset="0"/>
              </a:rPr>
              <a:t>Why should they do what you ask them? </a:t>
            </a:r>
            <a:endParaRPr lang="en-US" sz="2200" dirty="0" smtClean="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What’s </a:t>
            </a:r>
            <a:r>
              <a:rPr lang="en-US" sz="2200" dirty="0">
                <a:solidFill>
                  <a:schemeClr val="tx1"/>
                </a:solidFill>
                <a:latin typeface="Calibri" panose="020F0502020204030204" pitchFamily="34" charset="0"/>
              </a:rPr>
              <a:t>in it for your reader? </a:t>
            </a:r>
            <a:endParaRPr lang="en-US" sz="2200" dirty="0" smtClean="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What </a:t>
            </a:r>
            <a:r>
              <a:rPr lang="en-US" sz="2200" dirty="0">
                <a:solidFill>
                  <a:schemeClr val="tx1"/>
                </a:solidFill>
                <a:latin typeface="Calibri" panose="020F0502020204030204" pitchFamily="34" charset="0"/>
              </a:rPr>
              <a:t>do they get? </a:t>
            </a:r>
            <a:endParaRPr lang="en-US" sz="2200" dirty="0" smtClean="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What’s </a:t>
            </a:r>
            <a:r>
              <a:rPr lang="en-US" sz="2200" dirty="0">
                <a:solidFill>
                  <a:schemeClr val="tx1"/>
                </a:solidFill>
                <a:latin typeface="Calibri" panose="020F0502020204030204" pitchFamily="34" charset="0"/>
              </a:rPr>
              <a:t>the incentive? </a:t>
            </a:r>
            <a:endParaRPr lang="en-US" sz="2200" dirty="0" smtClean="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What </a:t>
            </a:r>
            <a:r>
              <a:rPr lang="en-US" sz="2200" dirty="0">
                <a:solidFill>
                  <a:schemeClr val="tx1"/>
                </a:solidFill>
                <a:latin typeface="Calibri" panose="020F0502020204030204" pitchFamily="34" charset="0"/>
              </a:rPr>
              <a:t>are the major benefits of doing what you are asking them to do? </a:t>
            </a:r>
          </a:p>
        </p:txBody>
      </p:sp>
      <p:pic>
        <p:nvPicPr>
          <p:cNvPr id="13314" name="Picture 2" descr="http://www.colourbox.com/preview/2751040-33752-an-armed-robber-menaces-and-threatens-with-a-gun-during-a-robbery.jpg"/>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381000" y="-152400"/>
            <a:ext cx="1905000" cy="2721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566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Motivate Your Reader.</a:t>
            </a:r>
            <a:endParaRPr lang="en-US" sz="30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895600"/>
            <a:ext cx="7543800" cy="3657600"/>
          </a:xfrm>
        </p:spPr>
        <p:txBody>
          <a:bodyPr>
            <a:noAutofit/>
          </a:bodyPr>
          <a:lstStyle/>
          <a:p>
            <a:pPr marL="0" indent="0">
              <a:buNone/>
            </a:pPr>
            <a:r>
              <a:rPr lang="en-US" sz="2200" dirty="0">
                <a:solidFill>
                  <a:schemeClr val="tx1"/>
                </a:solidFill>
                <a:latin typeface="Calibri" panose="020F0502020204030204" pitchFamily="34" charset="0"/>
              </a:rPr>
              <a:t>Here’s an </a:t>
            </a:r>
            <a:r>
              <a:rPr lang="en-US" sz="2200" dirty="0" smtClean="0">
                <a:solidFill>
                  <a:schemeClr val="tx1"/>
                </a:solidFill>
                <a:latin typeface="Calibri" panose="020F0502020204030204" pitchFamily="34" charset="0"/>
              </a:rPr>
              <a:t>example: When you </a:t>
            </a:r>
            <a:r>
              <a:rPr lang="en-US" sz="2200" dirty="0">
                <a:solidFill>
                  <a:schemeClr val="tx1"/>
                </a:solidFill>
                <a:latin typeface="Calibri" panose="020F0502020204030204" pitchFamily="34" charset="0"/>
              </a:rPr>
              <a:t>feed your dog Special-J Dog Food, you’ll notice your dog will </a:t>
            </a:r>
            <a:r>
              <a:rPr lang="en-US" sz="2200" dirty="0" smtClean="0">
                <a:solidFill>
                  <a:schemeClr val="tx1"/>
                </a:solidFill>
                <a:latin typeface="Calibri" panose="020F0502020204030204" pitchFamily="34" charset="0"/>
              </a:rPr>
              <a:t>:</a:t>
            </a:r>
          </a:p>
          <a:p>
            <a:pPr marL="0" indent="0">
              <a:buNone/>
            </a:pPr>
            <a:endParaRPr lang="en-US" sz="2200" dirty="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Be </a:t>
            </a:r>
            <a:r>
              <a:rPr lang="en-US" sz="2200" dirty="0">
                <a:solidFill>
                  <a:schemeClr val="tx1"/>
                </a:solidFill>
                <a:latin typeface="Calibri" panose="020F0502020204030204" pitchFamily="34" charset="0"/>
              </a:rPr>
              <a:t>more content and happier</a:t>
            </a:r>
          </a:p>
          <a:p>
            <a:r>
              <a:rPr lang="en-US" sz="2200" dirty="0" smtClean="0">
                <a:solidFill>
                  <a:schemeClr val="tx1"/>
                </a:solidFill>
                <a:latin typeface="Calibri" panose="020F0502020204030204" pitchFamily="34" charset="0"/>
              </a:rPr>
              <a:t>Sleep </a:t>
            </a:r>
            <a:r>
              <a:rPr lang="en-US" sz="2200" dirty="0">
                <a:solidFill>
                  <a:schemeClr val="tx1"/>
                </a:solidFill>
                <a:latin typeface="Calibri" panose="020F0502020204030204" pitchFamily="34" charset="0"/>
              </a:rPr>
              <a:t>better</a:t>
            </a:r>
          </a:p>
          <a:p>
            <a:r>
              <a:rPr lang="en-US" sz="2200" dirty="0" smtClean="0">
                <a:solidFill>
                  <a:schemeClr val="tx1"/>
                </a:solidFill>
                <a:latin typeface="Calibri" panose="020F0502020204030204" pitchFamily="34" charset="0"/>
              </a:rPr>
              <a:t>Have </a:t>
            </a:r>
            <a:r>
              <a:rPr lang="en-US" sz="2200" dirty="0">
                <a:solidFill>
                  <a:schemeClr val="tx1"/>
                </a:solidFill>
                <a:latin typeface="Calibri" panose="020F0502020204030204" pitchFamily="34" charset="0"/>
              </a:rPr>
              <a:t>a shinier, healthier coat</a:t>
            </a:r>
          </a:p>
          <a:p>
            <a:r>
              <a:rPr lang="en-US" sz="2200" dirty="0" smtClean="0">
                <a:solidFill>
                  <a:schemeClr val="tx1"/>
                </a:solidFill>
                <a:latin typeface="Calibri" panose="020F0502020204030204" pitchFamily="34" charset="0"/>
              </a:rPr>
              <a:t>Be </a:t>
            </a:r>
            <a:r>
              <a:rPr lang="en-US" sz="2200" dirty="0">
                <a:solidFill>
                  <a:schemeClr val="tx1"/>
                </a:solidFill>
                <a:latin typeface="Calibri" panose="020F0502020204030204" pitchFamily="34" charset="0"/>
              </a:rPr>
              <a:t>less likely to get sick</a:t>
            </a:r>
          </a:p>
          <a:p>
            <a:r>
              <a:rPr lang="en-US" sz="2200" dirty="0" smtClean="0">
                <a:solidFill>
                  <a:schemeClr val="tx1"/>
                </a:solidFill>
                <a:latin typeface="Calibri" panose="020F0502020204030204" pitchFamily="34" charset="0"/>
              </a:rPr>
              <a:t>Recover </a:t>
            </a:r>
            <a:r>
              <a:rPr lang="en-US" sz="2200" dirty="0">
                <a:solidFill>
                  <a:schemeClr val="tx1"/>
                </a:solidFill>
                <a:latin typeface="Calibri" panose="020F0502020204030204" pitchFamily="34" charset="0"/>
              </a:rPr>
              <a:t>from injuries faster</a:t>
            </a:r>
          </a:p>
          <a:p>
            <a:r>
              <a:rPr lang="en-US" sz="2200" dirty="0" smtClean="0">
                <a:solidFill>
                  <a:schemeClr val="tx1"/>
                </a:solidFill>
                <a:latin typeface="Calibri" panose="020F0502020204030204" pitchFamily="34" charset="0"/>
              </a:rPr>
              <a:t>Have </a:t>
            </a:r>
            <a:r>
              <a:rPr lang="en-US" sz="2200" dirty="0">
                <a:solidFill>
                  <a:schemeClr val="tx1"/>
                </a:solidFill>
                <a:latin typeface="Calibri" panose="020F0502020204030204" pitchFamily="34" charset="0"/>
              </a:rPr>
              <a:t>cleaner breath</a:t>
            </a:r>
          </a:p>
        </p:txBody>
      </p:sp>
      <p:pic>
        <p:nvPicPr>
          <p:cNvPr id="13314" name="Picture 2" descr="http://www.colourbox.com/preview/2751040-33752-an-armed-robber-menaces-and-threatens-with-a-gun-during-a-robbery.jpg"/>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381000" y="-152400"/>
            <a:ext cx="1905000" cy="2721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883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smtClean="0">
                <a:solidFill>
                  <a:schemeClr val="tx1"/>
                </a:solidFill>
                <a:latin typeface="Calibri" panose="020F0502020204030204" pitchFamily="34" charset="0"/>
              </a:rPr>
              <a:t>Unconscious Motivators.</a:t>
            </a:r>
            <a:r>
              <a:rPr lang="en-US" sz="3000" b="1" dirty="0">
                <a:solidFill>
                  <a:schemeClr val="tx1"/>
                </a:solidFill>
                <a:latin typeface="Calibri" panose="020F0502020204030204" pitchFamily="34" charset="0"/>
              </a:rPr>
              <a:t/>
            </a:r>
            <a:br>
              <a:rPr lang="en-US" sz="3000" b="1" dirty="0">
                <a:solidFill>
                  <a:schemeClr val="tx1"/>
                </a:solidFill>
                <a:latin typeface="Calibri" panose="020F0502020204030204" pitchFamily="34" charset="0"/>
              </a:rPr>
            </a:br>
            <a:r>
              <a:rPr lang="en-US" sz="2500" dirty="0">
                <a:solidFill>
                  <a:schemeClr val="tx1"/>
                </a:solidFill>
                <a:latin typeface="Calibri" panose="020F0502020204030204" pitchFamily="34" charset="0"/>
              </a:rPr>
              <a:t>What we say vs. what we really think.</a:t>
            </a:r>
          </a:p>
        </p:txBody>
      </p:sp>
      <p:pic>
        <p:nvPicPr>
          <p:cNvPr id="16386" name="Picture 2" descr="US: conscious vs. unconscious valu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239616"/>
            <a:ext cx="6375405" cy="4084983"/>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http://graphics8.nytimes.com/images/2010/01/31/magazine/31ecopsych-span/articleLarg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8615"/>
            <a:ext cx="2213680" cy="1896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0694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Show Them the </a:t>
            </a:r>
            <a:r>
              <a:rPr lang="en-US" sz="3000" b="1" dirty="0" smtClean="0">
                <a:solidFill>
                  <a:schemeClr val="tx1"/>
                </a:solidFill>
                <a:latin typeface="Calibri" panose="020F0502020204030204" pitchFamily="34" charset="0"/>
              </a:rPr>
              <a:t>Consequences</a:t>
            </a:r>
            <a:r>
              <a:rPr lang="en-US" sz="3000" b="1" dirty="0">
                <a:solidFill>
                  <a:schemeClr val="tx1"/>
                </a:solidFill>
                <a:latin typeface="Calibri" panose="020F0502020204030204" pitchFamily="34" charset="0"/>
              </a:rPr>
              <a:t>.</a:t>
            </a:r>
            <a:endParaRPr lang="en-US" sz="30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543800" cy="3581400"/>
          </a:xfrm>
        </p:spPr>
        <p:txBody>
          <a:bodyPr>
            <a:noAutofit/>
          </a:bodyPr>
          <a:lstStyle/>
          <a:p>
            <a:r>
              <a:rPr lang="en-US" sz="2200" dirty="0" smtClean="0">
                <a:solidFill>
                  <a:schemeClr val="tx1"/>
                </a:solidFill>
                <a:latin typeface="Calibri" panose="020F0502020204030204" pitchFamily="34" charset="0"/>
              </a:rPr>
              <a:t>How </a:t>
            </a:r>
            <a:r>
              <a:rPr lang="en-US" sz="2200" dirty="0">
                <a:solidFill>
                  <a:schemeClr val="tx1"/>
                </a:solidFill>
                <a:latin typeface="Calibri" panose="020F0502020204030204" pitchFamily="34" charset="0"/>
              </a:rPr>
              <a:t>will your readers lose out by not doing what you suggest? Paint a word picture for them. What pain will they experience if they don’t do as you ask. </a:t>
            </a:r>
          </a:p>
        </p:txBody>
      </p:sp>
      <p:pic>
        <p:nvPicPr>
          <p:cNvPr id="19458" name="Picture 2" descr="http://static9.depositphotos.com/1005979/1146/i/950/depositphotos_11469797-Win-Lose-Tie-Three-Arrow-Signs-Competition-Game.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0" b="100000" l="1270" r="100000"/>
                    </a14:imgEffect>
                  </a14:imgLayer>
                </a14:imgProps>
              </a:ext>
              <a:ext uri="{28A0092B-C50C-407E-A947-70E740481C1C}">
                <a14:useLocalDpi xmlns:a14="http://schemas.microsoft.com/office/drawing/2010/main" val="0"/>
              </a:ext>
            </a:extLst>
          </a:blip>
          <a:srcRect/>
          <a:stretch>
            <a:fillRect/>
          </a:stretch>
        </p:blipFill>
        <p:spPr bwMode="auto">
          <a:xfrm>
            <a:off x="381000" y="152400"/>
            <a:ext cx="2488573"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3163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Show Them the </a:t>
            </a:r>
            <a:r>
              <a:rPr lang="en-US" sz="3000" b="1" dirty="0" smtClean="0">
                <a:solidFill>
                  <a:schemeClr val="tx1"/>
                </a:solidFill>
                <a:latin typeface="Calibri" panose="020F0502020204030204" pitchFamily="34" charset="0"/>
              </a:rPr>
              <a:t>Consequences</a:t>
            </a:r>
            <a:r>
              <a:rPr lang="en-US" sz="3000" b="1" dirty="0">
                <a:solidFill>
                  <a:schemeClr val="tx1"/>
                </a:solidFill>
                <a:latin typeface="Calibri" panose="020F0502020204030204" pitchFamily="34" charset="0"/>
              </a:rPr>
              <a:t>.</a:t>
            </a:r>
            <a:endParaRPr lang="en-US" sz="30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543800" cy="3581400"/>
          </a:xfrm>
        </p:spPr>
        <p:txBody>
          <a:bodyPr>
            <a:noAutofit/>
          </a:bodyPr>
          <a:lstStyle/>
          <a:p>
            <a:pPr marL="0" indent="0">
              <a:buNone/>
            </a:pPr>
            <a:r>
              <a:rPr lang="en-US" sz="2200" dirty="0">
                <a:solidFill>
                  <a:schemeClr val="tx1"/>
                </a:solidFill>
                <a:latin typeface="Calibri" panose="020F0502020204030204" pitchFamily="34" charset="0"/>
              </a:rPr>
              <a:t>An example:</a:t>
            </a:r>
          </a:p>
          <a:p>
            <a:endParaRPr lang="en-US" sz="2200" dirty="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Many </a:t>
            </a:r>
            <a:r>
              <a:rPr lang="en-US" sz="2200" dirty="0">
                <a:solidFill>
                  <a:schemeClr val="tx1"/>
                </a:solidFill>
                <a:latin typeface="Calibri" panose="020F0502020204030204" pitchFamily="34" charset="0"/>
              </a:rPr>
              <a:t>dog foods are not nutritionally balanced, especially imported dog food. The last thing you need is for your dog to get sick, start losing his or her hair, becoming listless, just because you have been serving your dog canned food that isn’t as healthy.</a:t>
            </a:r>
          </a:p>
        </p:txBody>
      </p:sp>
      <p:pic>
        <p:nvPicPr>
          <p:cNvPr id="19458" name="Picture 2" descr="http://static9.depositphotos.com/1005979/1146/i/950/depositphotos_11469797-Win-Lose-Tie-Three-Arrow-Signs-Competition-Game.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0" b="100000" l="1270" r="100000"/>
                    </a14:imgEffect>
                  </a14:imgLayer>
                </a14:imgProps>
              </a:ext>
              <a:ext uri="{28A0092B-C50C-407E-A947-70E740481C1C}">
                <a14:useLocalDpi xmlns:a14="http://schemas.microsoft.com/office/drawing/2010/main" val="0"/>
              </a:ext>
            </a:extLst>
          </a:blip>
          <a:srcRect/>
          <a:stretch>
            <a:fillRect/>
          </a:stretch>
        </p:blipFill>
        <p:spPr bwMode="auto">
          <a:xfrm>
            <a:off x="381000" y="152400"/>
            <a:ext cx="2488573"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3288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Employ </a:t>
            </a:r>
            <a:r>
              <a:rPr lang="en-US" sz="3000" b="1" dirty="0" smtClean="0">
                <a:solidFill>
                  <a:schemeClr val="tx1"/>
                </a:solidFill>
                <a:latin typeface="Calibri" panose="020F0502020204030204" pitchFamily="34" charset="0"/>
              </a:rPr>
              <a:t>Metaphor.</a:t>
            </a:r>
            <a:endParaRPr lang="en-US" sz="30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848600" cy="3581400"/>
          </a:xfrm>
        </p:spPr>
        <p:txBody>
          <a:bodyPr>
            <a:noAutofit/>
          </a:bodyPr>
          <a:lstStyle/>
          <a:p>
            <a:r>
              <a:rPr lang="en-US" sz="2200" dirty="0">
                <a:solidFill>
                  <a:schemeClr val="tx1"/>
                </a:solidFill>
                <a:latin typeface="Calibri" panose="020F0502020204030204" pitchFamily="34" charset="0"/>
              </a:rPr>
              <a:t>If you are selling a product, how is your product like something else very desirable</a:t>
            </a:r>
            <a:r>
              <a:rPr lang="en-US" sz="2200" dirty="0" smtClean="0">
                <a:solidFill>
                  <a:schemeClr val="tx1"/>
                </a:solidFill>
                <a:latin typeface="Calibri" panose="020F0502020204030204" pitchFamily="34" charset="0"/>
              </a:rPr>
              <a:t>?</a:t>
            </a:r>
          </a:p>
          <a:p>
            <a:endParaRPr lang="en-US" sz="2200" dirty="0">
              <a:solidFill>
                <a:schemeClr val="tx1"/>
              </a:solidFill>
              <a:latin typeface="Calibri" panose="020F0502020204030204" pitchFamily="34" charset="0"/>
            </a:endParaRPr>
          </a:p>
          <a:p>
            <a:pPr marL="0" indent="0">
              <a:buNone/>
            </a:pPr>
            <a:r>
              <a:rPr lang="en-US" sz="2200" dirty="0">
                <a:solidFill>
                  <a:schemeClr val="tx1"/>
                </a:solidFill>
                <a:latin typeface="Calibri" panose="020F0502020204030204" pitchFamily="34" charset="0"/>
              </a:rPr>
              <a:t>Here are some examples:</a:t>
            </a:r>
          </a:p>
          <a:p>
            <a:endParaRPr lang="en-US" sz="2200" dirty="0">
              <a:solidFill>
                <a:schemeClr val="tx1"/>
              </a:solidFill>
              <a:latin typeface="Calibri" panose="020F0502020204030204" pitchFamily="34" charset="0"/>
            </a:endParaRPr>
          </a:p>
          <a:p>
            <a:r>
              <a:rPr lang="en-US" sz="2200" dirty="0">
                <a:solidFill>
                  <a:schemeClr val="tx1"/>
                </a:solidFill>
                <a:latin typeface="Calibri" panose="020F0502020204030204" pitchFamily="34" charset="0"/>
              </a:rPr>
              <a:t>Special-J Dog Food is like an immunity booster shot for your dog</a:t>
            </a:r>
            <a:r>
              <a:rPr lang="en-US" sz="2200" dirty="0" smtClean="0">
                <a:solidFill>
                  <a:schemeClr val="tx1"/>
                </a:solidFill>
                <a:latin typeface="Calibri" panose="020F0502020204030204" pitchFamily="34" charset="0"/>
              </a:rPr>
              <a:t>.</a:t>
            </a:r>
          </a:p>
          <a:p>
            <a:pPr marL="0" indent="0">
              <a:buNone/>
            </a:pPr>
            <a:endParaRPr lang="en-US" sz="2200" dirty="0">
              <a:solidFill>
                <a:schemeClr val="tx1"/>
              </a:solidFill>
              <a:latin typeface="Calibri" panose="020F0502020204030204" pitchFamily="34" charset="0"/>
            </a:endParaRPr>
          </a:p>
          <a:p>
            <a:r>
              <a:rPr lang="en-US" sz="2200" dirty="0">
                <a:solidFill>
                  <a:schemeClr val="tx1"/>
                </a:solidFill>
                <a:latin typeface="Calibri" panose="020F0502020204030204" pitchFamily="34" charset="0"/>
              </a:rPr>
              <a:t>ABC is the Rolls-Royce of printer inks.</a:t>
            </a:r>
          </a:p>
        </p:txBody>
      </p:sp>
      <p:pic>
        <p:nvPicPr>
          <p:cNvPr id="24578" name="Picture 2" descr="http://marketingforhippies.com/wp-content/uploads/2013/03/metaphor-simil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0"/>
            <a:ext cx="2325905"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381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Show No Gray Area</a:t>
            </a:r>
            <a:endParaRPr lang="en-US" sz="30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848600" cy="3581400"/>
          </a:xfrm>
        </p:spPr>
        <p:txBody>
          <a:bodyPr>
            <a:noAutofit/>
          </a:bodyPr>
          <a:lstStyle/>
          <a:p>
            <a:r>
              <a:rPr lang="en-US" sz="2200" dirty="0">
                <a:solidFill>
                  <a:schemeClr val="tx1"/>
                </a:solidFill>
                <a:latin typeface="Calibri" panose="020F0502020204030204" pitchFamily="34" charset="0"/>
              </a:rPr>
              <a:t>Point out to your readers that there really isn’t any choice in what you have to offer. </a:t>
            </a:r>
            <a:endParaRPr lang="en-US" sz="2200" dirty="0" smtClean="0">
              <a:solidFill>
                <a:schemeClr val="tx1"/>
              </a:solidFill>
              <a:latin typeface="Calibri" panose="020F0502020204030204" pitchFamily="34" charset="0"/>
            </a:endParaRPr>
          </a:p>
          <a:p>
            <a:endParaRPr lang="en-US" sz="2200" dirty="0" smtClean="0">
              <a:solidFill>
                <a:schemeClr val="tx1"/>
              </a:solidFill>
              <a:latin typeface="Calibri" panose="020F0502020204030204" pitchFamily="34" charset="0"/>
            </a:endParaRPr>
          </a:p>
          <a:p>
            <a:r>
              <a:rPr lang="en-US" sz="2200" dirty="0" smtClean="0">
                <a:solidFill>
                  <a:schemeClr val="tx1"/>
                </a:solidFill>
                <a:latin typeface="Calibri" panose="020F0502020204030204" pitchFamily="34" charset="0"/>
              </a:rPr>
              <a:t>They </a:t>
            </a:r>
            <a:r>
              <a:rPr lang="en-US" sz="2200" dirty="0">
                <a:solidFill>
                  <a:schemeClr val="tx1"/>
                </a:solidFill>
                <a:latin typeface="Calibri" panose="020F0502020204030204" pitchFamily="34" charset="0"/>
              </a:rPr>
              <a:t>have only a very positive outcome if they do as you say or a very negative one if they don’t. Which one are you going to choose?</a:t>
            </a:r>
          </a:p>
        </p:txBody>
      </p:sp>
      <p:sp>
        <p:nvSpPr>
          <p:cNvPr id="2" name="Rectangle 1"/>
          <p:cNvSpPr/>
          <p:nvPr/>
        </p:nvSpPr>
        <p:spPr>
          <a:xfrm>
            <a:off x="0" y="0"/>
            <a:ext cx="2286000" cy="21336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p:cNvSpPr/>
          <p:nvPr/>
        </p:nvSpPr>
        <p:spPr>
          <a:xfrm>
            <a:off x="457200" y="381000"/>
            <a:ext cx="1375400" cy="1255059"/>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729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Have Them Make a Commitment.</a:t>
            </a:r>
            <a:endParaRPr lang="en-US" sz="30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848600" cy="3581400"/>
          </a:xfrm>
        </p:spPr>
        <p:txBody>
          <a:bodyPr>
            <a:noAutofit/>
          </a:bodyPr>
          <a:lstStyle/>
          <a:p>
            <a:r>
              <a:rPr lang="en-US" sz="2200" dirty="0">
                <a:solidFill>
                  <a:schemeClr val="tx1"/>
                </a:solidFill>
                <a:latin typeface="Calibri" panose="020F0502020204030204" pitchFamily="34" charset="0"/>
              </a:rPr>
              <a:t>When people make a commitment to an idea, they tend to find it very difficult to change their minds without creating conflict or anxiety (called, Cognitive Dissonance</a:t>
            </a:r>
            <a:r>
              <a:rPr lang="en-US" sz="2200" dirty="0" smtClean="0">
                <a:solidFill>
                  <a:schemeClr val="tx1"/>
                </a:solidFill>
                <a:latin typeface="Calibri" panose="020F0502020204030204" pitchFamily="34" charset="0"/>
              </a:rPr>
              <a:t>).</a:t>
            </a:r>
          </a:p>
          <a:p>
            <a:endParaRPr lang="en-US" sz="2200" dirty="0">
              <a:solidFill>
                <a:schemeClr val="tx1"/>
              </a:solidFill>
              <a:latin typeface="Calibri" panose="020F0502020204030204" pitchFamily="34" charset="0"/>
            </a:endParaRPr>
          </a:p>
          <a:p>
            <a:r>
              <a:rPr lang="en-US" sz="2200" dirty="0">
                <a:solidFill>
                  <a:schemeClr val="tx1"/>
                </a:solidFill>
                <a:latin typeface="Calibri" panose="020F0502020204030204" pitchFamily="34" charset="0"/>
              </a:rPr>
              <a:t>For an advertisement, You would first ask your readers a question where they would most likely say yes. Then you’d continue with your writing. Finally, you’d remind them of what they said yes </a:t>
            </a:r>
            <a:r>
              <a:rPr lang="en-US" sz="2200" dirty="0" smtClean="0">
                <a:solidFill>
                  <a:schemeClr val="tx1"/>
                </a:solidFill>
                <a:latin typeface="Calibri" panose="020F0502020204030204" pitchFamily="34" charset="0"/>
              </a:rPr>
              <a:t>to and connect this to your offer.</a:t>
            </a:r>
            <a:endParaRPr lang="en-US" sz="2200" dirty="0">
              <a:solidFill>
                <a:schemeClr val="tx1"/>
              </a:solidFill>
              <a:latin typeface="Calibri" panose="020F0502020204030204" pitchFamily="34" charset="0"/>
            </a:endParaRPr>
          </a:p>
        </p:txBody>
      </p:sp>
      <p:pic>
        <p:nvPicPr>
          <p:cNvPr id="1026" name="Picture 2" descr="http://www.ivstatic.com/files/et/imagecache/400x300/files/blog_articles/commitment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7432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2338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242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Overcome Inertia</a:t>
            </a:r>
            <a:br>
              <a:rPr lang="en-US" sz="3000" b="1" dirty="0">
                <a:solidFill>
                  <a:schemeClr val="tx1"/>
                </a:solidFill>
                <a:latin typeface="Calibri" panose="020F0502020204030204" pitchFamily="34" charset="0"/>
              </a:rPr>
            </a:br>
            <a:r>
              <a:rPr lang="en-US" sz="2500" dirty="0" smtClean="0">
                <a:solidFill>
                  <a:schemeClr val="tx1"/>
                </a:solidFill>
                <a:latin typeface="Calibri" panose="020F0502020204030204" pitchFamily="34" charset="0"/>
              </a:rPr>
              <a:t>Use </a:t>
            </a:r>
            <a:r>
              <a:rPr lang="en-US" sz="2500" dirty="0">
                <a:solidFill>
                  <a:schemeClr val="tx1"/>
                </a:solidFill>
                <a:latin typeface="Calibri" panose="020F0502020204030204" pitchFamily="34" charset="0"/>
              </a:rPr>
              <a:t>Urgency</a:t>
            </a:r>
            <a:endParaRPr lang="en-US" sz="25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848600" cy="3581400"/>
          </a:xfrm>
        </p:spPr>
        <p:txBody>
          <a:bodyPr>
            <a:noAutofit/>
          </a:bodyPr>
          <a:lstStyle/>
          <a:p>
            <a:r>
              <a:rPr lang="en-US" sz="2200" dirty="0">
                <a:solidFill>
                  <a:schemeClr val="tx1"/>
                </a:solidFill>
                <a:latin typeface="Calibri" panose="020F0502020204030204" pitchFamily="34" charset="0"/>
              </a:rPr>
              <a:t>The first rule here is to simplify the steps they need to take</a:t>
            </a:r>
            <a:r>
              <a:rPr lang="en-US" sz="2200" dirty="0" smtClean="0">
                <a:solidFill>
                  <a:schemeClr val="tx1"/>
                </a:solidFill>
                <a:latin typeface="Calibri" panose="020F0502020204030204" pitchFamily="34" charset="0"/>
              </a:rPr>
              <a:t>.</a:t>
            </a:r>
          </a:p>
          <a:p>
            <a:pPr marL="0" indent="0" algn="ctr">
              <a:buNone/>
            </a:pPr>
            <a:r>
              <a:rPr lang="en-US" sz="2200" dirty="0" smtClean="0">
                <a:solidFill>
                  <a:schemeClr val="tx1"/>
                </a:solidFill>
                <a:latin typeface="Calibri" panose="020F0502020204030204" pitchFamily="34" charset="0"/>
              </a:rPr>
              <a:t>+</a:t>
            </a:r>
          </a:p>
          <a:p>
            <a:r>
              <a:rPr lang="en-US" sz="2200" dirty="0">
                <a:solidFill>
                  <a:schemeClr val="tx1"/>
                </a:solidFill>
                <a:latin typeface="Calibri" panose="020F0502020204030204" pitchFamily="34" charset="0"/>
              </a:rPr>
              <a:t>Creating a sense of urgency in your copy is one of the oldest tricks in the book ... and still one of the smartest</a:t>
            </a:r>
            <a:r>
              <a:rPr lang="en-US" sz="2200" dirty="0" smtClean="0">
                <a:solidFill>
                  <a:schemeClr val="tx1"/>
                </a:solidFill>
                <a:latin typeface="Calibri" panose="020F0502020204030204" pitchFamily="34" charset="0"/>
              </a:rPr>
              <a:t>.</a:t>
            </a:r>
          </a:p>
          <a:p>
            <a:pPr marL="0" indent="0" algn="ctr">
              <a:buNone/>
            </a:pPr>
            <a:r>
              <a:rPr lang="en-US" sz="2200" dirty="0" smtClean="0">
                <a:solidFill>
                  <a:schemeClr val="tx1"/>
                </a:solidFill>
                <a:latin typeface="Calibri" panose="020F0502020204030204" pitchFamily="34" charset="0"/>
              </a:rPr>
              <a:t>=</a:t>
            </a:r>
          </a:p>
          <a:p>
            <a:r>
              <a:rPr lang="en-US" sz="2200" dirty="0" smtClean="0">
                <a:solidFill>
                  <a:schemeClr val="tx1"/>
                </a:solidFill>
                <a:latin typeface="Calibri" panose="020F0502020204030204" pitchFamily="34" charset="0"/>
              </a:rPr>
              <a:t>Invoking </a:t>
            </a:r>
            <a:r>
              <a:rPr lang="en-US" sz="2200" dirty="0">
                <a:solidFill>
                  <a:schemeClr val="tx1"/>
                </a:solidFill>
                <a:latin typeface="Calibri" panose="020F0502020204030204" pitchFamily="34" charset="0"/>
              </a:rPr>
              <a:t>urgency had much more noticeable effect when follow-up instructions were given</a:t>
            </a:r>
            <a:r>
              <a:rPr lang="en-US" sz="2200" dirty="0" smtClean="0">
                <a:solidFill>
                  <a:schemeClr val="tx1"/>
                </a:solidFill>
                <a:latin typeface="Calibri" panose="020F0502020204030204" pitchFamily="34" charset="0"/>
              </a:rPr>
              <a:t>.	</a:t>
            </a:r>
            <a:endParaRPr lang="en-US" sz="2200" dirty="0">
              <a:solidFill>
                <a:schemeClr val="tx1"/>
              </a:solidFill>
              <a:latin typeface="Calibri" panose="020F0502020204030204" pitchFamily="34" charset="0"/>
            </a:endParaRPr>
          </a:p>
        </p:txBody>
      </p:sp>
      <p:pic>
        <p:nvPicPr>
          <p:cNvPr id="3074" name="Picture 2" descr="http://ccmurology.com/images/disease/overactive_bladder_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3812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9041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352800" y="762000"/>
            <a:ext cx="5486400" cy="845488"/>
          </a:xfrm>
        </p:spPr>
        <p:txBody>
          <a:bodyPr>
            <a:noAutofit/>
          </a:bodyPr>
          <a:lstStyle/>
          <a:p>
            <a:pPr algn="l">
              <a:lnSpc>
                <a:spcPct val="100000"/>
              </a:lnSpc>
            </a:pPr>
            <a:r>
              <a:rPr lang="en-US" sz="3000" b="1" dirty="0">
                <a:solidFill>
                  <a:schemeClr val="tx1"/>
                </a:solidFill>
                <a:latin typeface="Calibri" panose="020F0502020204030204" pitchFamily="34" charset="0"/>
              </a:rPr>
              <a:t>Add Presuppositions.</a:t>
            </a:r>
            <a:endParaRPr lang="en-US" sz="25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971800"/>
            <a:ext cx="7848600" cy="3581400"/>
          </a:xfrm>
        </p:spPr>
        <p:txBody>
          <a:bodyPr>
            <a:noAutofit/>
          </a:bodyPr>
          <a:lstStyle/>
          <a:p>
            <a:r>
              <a:rPr lang="en-US" sz="2200" dirty="0">
                <a:solidFill>
                  <a:schemeClr val="tx1"/>
                </a:solidFill>
                <a:latin typeface="Calibri" panose="020F0502020204030204" pitchFamily="34" charset="0"/>
              </a:rPr>
              <a:t>These are compelling ways to put thoughts into people’s heads without even verbalizing the thought</a:t>
            </a:r>
            <a:r>
              <a:rPr lang="en-US" sz="2200" dirty="0" smtClean="0">
                <a:solidFill>
                  <a:schemeClr val="tx1"/>
                </a:solidFill>
                <a:latin typeface="Calibri" panose="020F0502020204030204" pitchFamily="34" charset="0"/>
              </a:rPr>
              <a:t>.</a:t>
            </a:r>
          </a:p>
          <a:p>
            <a:endParaRPr lang="en-US" sz="2200" dirty="0">
              <a:solidFill>
                <a:schemeClr val="tx1"/>
              </a:solidFill>
              <a:latin typeface="Calibri" panose="020F0502020204030204" pitchFamily="34" charset="0"/>
            </a:endParaRPr>
          </a:p>
          <a:p>
            <a:pPr marL="0" indent="0">
              <a:buNone/>
            </a:pPr>
            <a:r>
              <a:rPr lang="en-US" sz="2200" dirty="0" smtClean="0">
                <a:solidFill>
                  <a:schemeClr val="tx1"/>
                </a:solidFill>
                <a:latin typeface="Calibri" panose="020F0502020204030204" pitchFamily="34" charset="0"/>
              </a:rPr>
              <a:t>Example</a:t>
            </a:r>
            <a:r>
              <a:rPr lang="en-US" sz="2200" dirty="0">
                <a:solidFill>
                  <a:schemeClr val="tx1"/>
                </a:solidFill>
                <a:latin typeface="Calibri" panose="020F0502020204030204" pitchFamily="34" charset="0"/>
              </a:rPr>
              <a:t>:</a:t>
            </a:r>
          </a:p>
          <a:p>
            <a:r>
              <a:rPr lang="en-US" sz="2200" dirty="0" smtClean="0">
                <a:solidFill>
                  <a:schemeClr val="tx1"/>
                </a:solidFill>
                <a:latin typeface="Calibri" panose="020F0502020204030204" pitchFamily="34" charset="0"/>
              </a:rPr>
              <a:t>Do </a:t>
            </a:r>
            <a:r>
              <a:rPr lang="en-US" sz="2200" dirty="0">
                <a:solidFill>
                  <a:schemeClr val="tx1"/>
                </a:solidFill>
                <a:latin typeface="Calibri" panose="020F0502020204030204" pitchFamily="34" charset="0"/>
              </a:rPr>
              <a:t>you know of any other dog food that makes your dog healthier than Special-J Dog Food? </a:t>
            </a:r>
            <a:endParaRPr lang="en-US" sz="2200" dirty="0" smtClean="0">
              <a:solidFill>
                <a:schemeClr val="tx1"/>
              </a:solidFill>
              <a:latin typeface="Calibri" panose="020F0502020204030204" pitchFamily="34" charset="0"/>
            </a:endParaRPr>
          </a:p>
          <a:p>
            <a:pPr marL="0" indent="0">
              <a:buNone/>
            </a:pPr>
            <a:r>
              <a:rPr lang="en-US" sz="2200" dirty="0" smtClean="0">
                <a:solidFill>
                  <a:schemeClr val="tx1"/>
                </a:solidFill>
                <a:latin typeface="Calibri" panose="020F0502020204030204" pitchFamily="34" charset="0"/>
              </a:rPr>
              <a:t>(</a:t>
            </a:r>
            <a:r>
              <a:rPr lang="en-US" sz="2200" dirty="0">
                <a:solidFill>
                  <a:schemeClr val="tx1"/>
                </a:solidFill>
                <a:latin typeface="Calibri" panose="020F0502020204030204" pitchFamily="34" charset="0"/>
              </a:rPr>
              <a:t>NOTE: Whether they answer yes or no, by answering the question they imply that Special-J Dog Food will make their dog healthy.)</a:t>
            </a:r>
            <a:endParaRPr lang="en-US" sz="2200" dirty="0">
              <a:solidFill>
                <a:schemeClr val="tx1"/>
              </a:solidFill>
              <a:latin typeface="Calibri" panose="020F0502020204030204" pitchFamily="34" charset="0"/>
            </a:endParaRPr>
          </a:p>
        </p:txBody>
      </p:sp>
      <p:pic>
        <p:nvPicPr>
          <p:cNvPr id="4098" name="Picture 2" descr="http://www.niurkainc.com/newsletter/images/news-cannot-not-communicate-image-big.jpg"/>
          <p:cNvPicPr>
            <a:picLocks noChangeAspect="1" noChangeArrowheads="1"/>
          </p:cNvPicPr>
          <p:nvPr/>
        </p:nvPicPr>
        <p:blipFill rotWithShape="1">
          <a:blip r:embed="rId2">
            <a:extLst>
              <a:ext uri="{28A0092B-C50C-407E-A947-70E740481C1C}">
                <a14:useLocalDpi xmlns:a14="http://schemas.microsoft.com/office/drawing/2010/main" val="0"/>
              </a:ext>
            </a:extLst>
          </a:blip>
          <a:srcRect t="12167" r="5878" b="5826"/>
          <a:stretch/>
        </p:blipFill>
        <p:spPr bwMode="auto">
          <a:xfrm>
            <a:off x="0" y="0"/>
            <a:ext cx="3120698"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2841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810000" y="762000"/>
            <a:ext cx="5105400" cy="845488"/>
          </a:xfrm>
        </p:spPr>
        <p:txBody>
          <a:bodyPr>
            <a:noAutofit/>
          </a:bodyPr>
          <a:lstStyle/>
          <a:p>
            <a:pPr algn="l">
              <a:lnSpc>
                <a:spcPct val="100000"/>
              </a:lnSpc>
            </a:pPr>
            <a:r>
              <a:rPr lang="en-US" sz="3000" b="1" dirty="0" smtClean="0">
                <a:solidFill>
                  <a:schemeClr val="tx1"/>
                </a:solidFill>
                <a:latin typeface="Calibri" panose="020F0502020204030204" pitchFamily="34" charset="0"/>
              </a:rPr>
              <a:t>LITERATURE</a:t>
            </a:r>
            <a:br>
              <a:rPr lang="en-US" sz="3000" b="1" dirty="0" smtClean="0">
                <a:solidFill>
                  <a:schemeClr val="tx1"/>
                </a:solidFill>
                <a:latin typeface="Calibri" panose="020F0502020204030204" pitchFamily="34" charset="0"/>
              </a:rPr>
            </a:br>
            <a:r>
              <a:rPr lang="en-US" sz="2500" dirty="0" smtClean="0">
                <a:solidFill>
                  <a:schemeClr val="tx1"/>
                </a:solidFill>
                <a:latin typeface="Calibri" panose="020F0502020204030204" pitchFamily="34" charset="0"/>
              </a:rPr>
              <a:t>The sources you have to read</a:t>
            </a:r>
            <a:endParaRPr lang="en-US" sz="2500" dirty="0">
              <a:solidFill>
                <a:schemeClr val="tx1"/>
              </a:solidFill>
              <a:latin typeface="Calibri" panose="020F0502020204030204" pitchFamily="34" charset="0"/>
            </a:endParaRPr>
          </a:p>
        </p:txBody>
      </p:sp>
      <p:sp>
        <p:nvSpPr>
          <p:cNvPr id="4" name="Content Placeholder 2"/>
          <p:cNvSpPr>
            <a:spLocks noGrp="1"/>
          </p:cNvSpPr>
          <p:nvPr>
            <p:ph idx="1"/>
          </p:nvPr>
        </p:nvSpPr>
        <p:spPr>
          <a:xfrm>
            <a:off x="457200" y="2438400"/>
            <a:ext cx="8229600" cy="4114800"/>
          </a:xfrm>
        </p:spPr>
        <p:txBody>
          <a:bodyPr>
            <a:noAutofit/>
          </a:bodyPr>
          <a:lstStyle/>
          <a:p>
            <a:r>
              <a:rPr lang="en-US" sz="1800" dirty="0" smtClean="0">
                <a:solidFill>
                  <a:schemeClr val="tx1"/>
                </a:solidFill>
                <a:latin typeface="Calibri" panose="020F0502020204030204" pitchFamily="34" charset="0"/>
                <a:hlinkClick r:id="rId2"/>
              </a:rPr>
              <a:t>10 Ways to convert more customers</a:t>
            </a:r>
            <a:endParaRPr lang="en-US" sz="1800" dirty="0" smtClean="0">
              <a:solidFill>
                <a:schemeClr val="tx1"/>
              </a:solidFill>
              <a:latin typeface="Calibri" panose="020F0502020204030204" pitchFamily="34" charset="0"/>
            </a:endParaRPr>
          </a:p>
          <a:p>
            <a:r>
              <a:rPr lang="en-US" sz="1800" dirty="0">
                <a:solidFill>
                  <a:schemeClr val="tx1"/>
                </a:solidFill>
                <a:latin typeface="Calibri" panose="020F0502020204030204" pitchFamily="34" charset="0"/>
                <a:hlinkClick r:id="rId3"/>
              </a:rPr>
              <a:t>17 of The World’s Most Powerful Written Persuasion </a:t>
            </a:r>
            <a:r>
              <a:rPr lang="en-US" sz="1800" dirty="0" smtClean="0">
                <a:solidFill>
                  <a:schemeClr val="tx1"/>
                </a:solidFill>
                <a:latin typeface="Calibri" panose="020F0502020204030204" pitchFamily="34" charset="0"/>
                <a:hlinkClick r:id="rId3"/>
              </a:rPr>
              <a:t>Techniques</a:t>
            </a:r>
            <a:endParaRPr lang="en-US" sz="1800" dirty="0" smtClean="0">
              <a:solidFill>
                <a:schemeClr val="tx1"/>
              </a:solidFill>
              <a:latin typeface="Calibri" panose="020F0502020204030204" pitchFamily="34" charset="0"/>
            </a:endParaRPr>
          </a:p>
          <a:p>
            <a:r>
              <a:rPr lang="en-US" sz="1800" dirty="0">
                <a:solidFill>
                  <a:schemeClr val="tx1"/>
                </a:solidFill>
                <a:latin typeface="Calibri" panose="020F0502020204030204" pitchFamily="34" charset="0"/>
                <a:hlinkClick r:id="rId4"/>
              </a:rPr>
              <a:t>13 </a:t>
            </a:r>
            <a:r>
              <a:rPr lang="en-US" sz="1800" dirty="0" err="1">
                <a:solidFill>
                  <a:schemeClr val="tx1"/>
                </a:solidFill>
                <a:latin typeface="Calibri" panose="020F0502020204030204" pitchFamily="34" charset="0"/>
                <a:hlinkClick r:id="rId4"/>
              </a:rPr>
              <a:t>Neuromarketing</a:t>
            </a:r>
            <a:r>
              <a:rPr lang="en-US" sz="1800" dirty="0">
                <a:solidFill>
                  <a:schemeClr val="tx1"/>
                </a:solidFill>
                <a:latin typeface="Calibri" panose="020F0502020204030204" pitchFamily="34" charset="0"/>
                <a:hlinkClick r:id="rId4"/>
              </a:rPr>
              <a:t> Lead Generation Tactics and One That Isn't</a:t>
            </a:r>
            <a:r>
              <a:rPr lang="en-US" sz="1800" dirty="0" smtClean="0">
                <a:solidFill>
                  <a:schemeClr val="tx1"/>
                </a:solidFill>
                <a:latin typeface="Calibri" panose="020F0502020204030204" pitchFamily="34" charset="0"/>
                <a:hlinkClick r:id="rId4"/>
              </a:rPr>
              <a:t>.</a:t>
            </a:r>
            <a:endParaRPr lang="en-US" sz="1800" dirty="0" smtClean="0">
              <a:solidFill>
                <a:schemeClr val="tx1"/>
              </a:solidFill>
              <a:latin typeface="Calibri" panose="020F0502020204030204" pitchFamily="34" charset="0"/>
            </a:endParaRPr>
          </a:p>
          <a:p>
            <a:r>
              <a:rPr lang="en-US" sz="1800" dirty="0" smtClean="0">
                <a:solidFill>
                  <a:schemeClr val="tx1"/>
                </a:solidFill>
                <a:latin typeface="Calibri" panose="020F0502020204030204" pitchFamily="34" charset="0"/>
                <a:hlinkClick r:id="rId5"/>
              </a:rPr>
              <a:t>5 Psychological Studies on Pricing That You Absolutely MUST Read</a:t>
            </a:r>
            <a:endParaRPr lang="en-US" sz="1800" dirty="0" smtClean="0">
              <a:solidFill>
                <a:schemeClr val="tx1"/>
              </a:solidFill>
              <a:latin typeface="Calibri" panose="020F0502020204030204" pitchFamily="34" charset="0"/>
            </a:endParaRPr>
          </a:p>
          <a:p>
            <a:r>
              <a:rPr lang="en-US" sz="1800" dirty="0">
                <a:solidFill>
                  <a:schemeClr val="tx1"/>
                </a:solidFill>
                <a:latin typeface="Calibri" panose="020F0502020204030204" pitchFamily="34" charset="0"/>
                <a:hlinkClick r:id="rId6"/>
              </a:rPr>
              <a:t>Sex, Lies, and Our Secret </a:t>
            </a:r>
            <a:r>
              <a:rPr lang="en-US" sz="1800" dirty="0" smtClean="0">
                <a:solidFill>
                  <a:schemeClr val="tx1"/>
                </a:solidFill>
                <a:latin typeface="Calibri" panose="020F0502020204030204" pitchFamily="34" charset="0"/>
                <a:hlinkClick r:id="rId6"/>
              </a:rPr>
              <a:t>Motivators</a:t>
            </a:r>
            <a:endParaRPr lang="en-US" sz="1800" dirty="0" smtClean="0">
              <a:solidFill>
                <a:schemeClr val="tx1"/>
              </a:solidFill>
              <a:latin typeface="Calibri" panose="020F0502020204030204" pitchFamily="34" charset="0"/>
            </a:endParaRPr>
          </a:p>
          <a:p>
            <a:r>
              <a:rPr lang="en-US" sz="1800" dirty="0">
                <a:solidFill>
                  <a:schemeClr val="tx1"/>
                </a:solidFill>
                <a:latin typeface="Calibri" panose="020F0502020204030204" pitchFamily="34" charset="0"/>
                <a:hlinkClick r:id="rId7"/>
              </a:rPr>
              <a:t>NLP Copywriting Tips: Using Linguistic Binds in Your Ads</a:t>
            </a:r>
            <a:endParaRPr lang="en-US" sz="1800" dirty="0" smtClean="0">
              <a:solidFill>
                <a:schemeClr val="tx1"/>
              </a:solidFill>
              <a:latin typeface="Calibri" panose="020F0502020204030204" pitchFamily="34" charset="0"/>
            </a:endParaRPr>
          </a:p>
          <a:p>
            <a:r>
              <a:rPr lang="en-US" sz="1800" dirty="0" smtClean="0">
                <a:solidFill>
                  <a:schemeClr val="tx1"/>
                </a:solidFill>
                <a:latin typeface="Calibri" panose="020F0502020204030204" pitchFamily="34" charset="0"/>
                <a:hlinkClick r:id="rId8"/>
              </a:rPr>
              <a:t>Persuade </a:t>
            </a:r>
            <a:r>
              <a:rPr lang="en-US" sz="1800" dirty="0">
                <a:solidFill>
                  <a:schemeClr val="tx1"/>
                </a:solidFill>
                <a:latin typeface="Calibri" panose="020F0502020204030204" pitchFamily="34" charset="0"/>
                <a:hlinkClick r:id="rId8"/>
              </a:rPr>
              <a:t>with Silky Smooth Copy</a:t>
            </a:r>
            <a:endParaRPr lang="en-US" sz="1800" dirty="0" smtClean="0">
              <a:solidFill>
                <a:schemeClr val="tx1"/>
              </a:solidFill>
              <a:latin typeface="Calibri" panose="020F0502020204030204" pitchFamily="34" charset="0"/>
            </a:endParaRPr>
          </a:p>
          <a:p>
            <a:r>
              <a:rPr lang="en-US" sz="1800" dirty="0">
                <a:solidFill>
                  <a:schemeClr val="tx1"/>
                </a:solidFill>
                <a:latin typeface="Calibri" panose="020F0502020204030204" pitchFamily="34" charset="0"/>
                <a:hlinkClick r:id="rId9"/>
              </a:rPr>
              <a:t>5 Principles of Persuasive Web </a:t>
            </a:r>
            <a:r>
              <a:rPr lang="en-US" sz="1800" dirty="0" smtClean="0">
                <a:solidFill>
                  <a:schemeClr val="tx1"/>
                </a:solidFill>
                <a:latin typeface="Calibri" panose="020F0502020204030204" pitchFamily="34" charset="0"/>
                <a:hlinkClick r:id="rId9"/>
              </a:rPr>
              <a:t>Design</a:t>
            </a:r>
            <a:endParaRPr lang="en-US" sz="1800" dirty="0" smtClean="0">
              <a:solidFill>
                <a:schemeClr val="tx1"/>
              </a:solidFill>
              <a:latin typeface="Calibri" panose="020F0502020204030204" pitchFamily="34" charset="0"/>
            </a:endParaRPr>
          </a:p>
          <a:p>
            <a:pPr marL="0" indent="0">
              <a:buNone/>
            </a:pPr>
            <a:r>
              <a:rPr lang="en-US" sz="1800" dirty="0" smtClean="0">
                <a:solidFill>
                  <a:schemeClr val="tx1"/>
                </a:solidFill>
                <a:latin typeface="Calibri" panose="020F0502020204030204" pitchFamily="34" charset="0"/>
              </a:rPr>
              <a:t>Also see:</a:t>
            </a:r>
          </a:p>
          <a:p>
            <a:r>
              <a:rPr lang="en-US" sz="1800" dirty="0" smtClean="0">
                <a:solidFill>
                  <a:schemeClr val="tx1"/>
                </a:solidFill>
                <a:latin typeface="Calibri" panose="020F0502020204030204" pitchFamily="34" charset="0"/>
                <a:hlinkClick r:id="rId10"/>
              </a:rPr>
              <a:t>NLP Language Patterns for </a:t>
            </a:r>
            <a:r>
              <a:rPr lang="en-US" sz="1800" dirty="0" err="1" smtClean="0">
                <a:solidFill>
                  <a:schemeClr val="tx1"/>
                </a:solidFill>
                <a:latin typeface="Calibri" panose="020F0502020204030204" pitchFamily="34" charset="0"/>
                <a:hlinkClick r:id="rId10"/>
              </a:rPr>
              <a:t>Advertizing</a:t>
            </a:r>
            <a:r>
              <a:rPr lang="en-US" sz="1800" dirty="0" smtClean="0">
                <a:solidFill>
                  <a:schemeClr val="tx1"/>
                </a:solidFill>
                <a:latin typeface="Calibri" panose="020F0502020204030204" pitchFamily="34" charset="0"/>
                <a:hlinkClick r:id="rId10"/>
              </a:rPr>
              <a:t> </a:t>
            </a:r>
            <a:r>
              <a:rPr lang="en-US" sz="1800" dirty="0" smtClean="0">
                <a:solidFill>
                  <a:schemeClr val="tx1"/>
                </a:solidFill>
                <a:latin typeface="Calibri" panose="020F0502020204030204" pitchFamily="34" charset="0"/>
              </a:rPr>
              <a:t>(Blog)</a:t>
            </a:r>
          </a:p>
          <a:p>
            <a:r>
              <a:rPr lang="en-US" sz="1800" dirty="0" smtClean="0">
                <a:solidFill>
                  <a:schemeClr val="tx1"/>
                </a:solidFill>
                <a:latin typeface="Calibri" panose="020F0502020204030204" pitchFamily="34" charset="0"/>
                <a:hlinkClick r:id="rId11"/>
              </a:rPr>
              <a:t>NeuroMarketing</a:t>
            </a:r>
            <a:r>
              <a:rPr lang="en-US" sz="1800" dirty="0" smtClean="0">
                <a:solidFill>
                  <a:schemeClr val="tx1"/>
                </a:solidFill>
                <a:latin typeface="Calibri" panose="020F0502020204030204" pitchFamily="34" charset="0"/>
              </a:rPr>
              <a:t> (Blog)</a:t>
            </a:r>
          </a:p>
          <a:p>
            <a:r>
              <a:rPr lang="en-US" sz="1800" dirty="0" smtClean="0">
                <a:solidFill>
                  <a:schemeClr val="tx1"/>
                </a:solidFill>
                <a:latin typeface="Calibri" panose="020F0502020204030204" pitchFamily="34" charset="0"/>
              </a:rPr>
              <a:t>NLP </a:t>
            </a:r>
            <a:r>
              <a:rPr lang="en-US" sz="1800" dirty="0" err="1" smtClean="0">
                <a:solidFill>
                  <a:schemeClr val="tx1"/>
                </a:solidFill>
                <a:latin typeface="Calibri" panose="020F0502020204030204" pitchFamily="34" charset="0"/>
              </a:rPr>
              <a:t>copyriting</a:t>
            </a:r>
            <a:r>
              <a:rPr lang="en-US" sz="1800" dirty="0" smtClean="0">
                <a:solidFill>
                  <a:schemeClr val="tx1"/>
                </a:solidFill>
                <a:latin typeface="Calibri" panose="020F0502020204030204" pitchFamily="34" charset="0"/>
              </a:rPr>
              <a:t> (</a:t>
            </a:r>
            <a:r>
              <a:rPr lang="en-US" sz="1800" dirty="0" smtClean="0">
                <a:solidFill>
                  <a:schemeClr val="tx1"/>
                </a:solidFill>
                <a:latin typeface="Calibri" panose="020F0502020204030204" pitchFamily="34" charset="0"/>
                <a:hlinkClick r:id="rId12"/>
              </a:rPr>
              <a:t>Blog</a:t>
            </a:r>
            <a:r>
              <a:rPr lang="en-US" sz="1800" dirty="0" smtClean="0">
                <a:solidFill>
                  <a:schemeClr val="tx1"/>
                </a:solidFill>
                <a:latin typeface="Calibri" panose="020F0502020204030204" pitchFamily="34" charset="0"/>
              </a:rPr>
              <a:t>) and (</a:t>
            </a:r>
            <a:r>
              <a:rPr lang="en-US" sz="1800" dirty="0" smtClean="0">
                <a:solidFill>
                  <a:schemeClr val="tx1"/>
                </a:solidFill>
                <a:latin typeface="Calibri" panose="020F0502020204030204" pitchFamily="34" charset="0"/>
                <a:hlinkClick r:id="rId13"/>
              </a:rPr>
              <a:t>YouTube channel</a:t>
            </a:r>
            <a:r>
              <a:rPr lang="en-US" sz="1800" dirty="0" smtClean="0">
                <a:solidFill>
                  <a:schemeClr val="tx1"/>
                </a:solidFill>
                <a:latin typeface="Calibri" panose="020F0502020204030204" pitchFamily="34" charset="0"/>
              </a:rPr>
              <a:t>)</a:t>
            </a:r>
            <a:endParaRPr lang="en-US" sz="1800" dirty="0">
              <a:solidFill>
                <a:schemeClr val="tx1"/>
              </a:solidFill>
              <a:latin typeface="Calibri" panose="020F0502020204030204" pitchFamily="34" charset="0"/>
            </a:endParaRPr>
          </a:p>
        </p:txBody>
      </p:sp>
      <p:pic>
        <p:nvPicPr>
          <p:cNvPr id="8196" name="Picture 4" descr="http://rehobothland.com/wp-content/uploads/2012/05/please-read.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878924" y="1"/>
            <a:ext cx="1524000" cy="2167467"/>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http://4.bp.blogspot.com/-pCcEzkJOZqY/T0RgPPPxpSI/AAAAAAAAEHw/HqSiHowHAtQ/s400/please.jpg"/>
          <p:cNvPicPr>
            <a:picLocks noChangeAspect="1" noChangeArrowheads="1"/>
          </p:cNvPicPr>
          <p:nvPr/>
        </p:nvPicPr>
        <p:blipFill rotWithShape="1">
          <a:blip r:embed="rId15">
            <a:extLst>
              <a:ext uri="{28A0092B-C50C-407E-A947-70E740481C1C}">
                <a14:useLocalDpi xmlns:a14="http://schemas.microsoft.com/office/drawing/2010/main" val="0"/>
              </a:ext>
            </a:extLst>
          </a:blip>
          <a:srcRect l="29455" t="3799" r="10598" b="5857"/>
          <a:stretch/>
        </p:blipFill>
        <p:spPr bwMode="auto">
          <a:xfrm flipH="1">
            <a:off x="0" y="0"/>
            <a:ext cx="1892411" cy="2167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2720926"/>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1_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511</TotalTime>
  <Words>1152</Words>
  <Application>Microsoft Office PowerPoint</Application>
  <PresentationFormat>On-screen Show (4:3)</PresentationFormat>
  <Paragraphs>122</Paragraphs>
  <Slides>25</Slides>
  <Notes>0</Notes>
  <HiddenSlides>0</HiddenSlides>
  <MMClips>0</MMClips>
  <ScaleCrop>false</ScaleCrop>
  <HeadingPairs>
    <vt:vector size="4" baseType="variant">
      <vt:variant>
        <vt:lpstr>Theme</vt:lpstr>
      </vt:variant>
      <vt:variant>
        <vt:i4>3</vt:i4>
      </vt:variant>
      <vt:variant>
        <vt:lpstr>Slide Titles</vt:lpstr>
      </vt:variant>
      <vt:variant>
        <vt:i4>25</vt:i4>
      </vt:variant>
    </vt:vector>
  </HeadingPairs>
  <TitlesOfParts>
    <vt:vector size="28" baseType="lpstr">
      <vt:lpstr>Office Theme</vt:lpstr>
      <vt:lpstr>Executive</vt:lpstr>
      <vt:lpstr>1_Executive</vt:lpstr>
      <vt:lpstr>Introduction to NEUROMARKETING</vt:lpstr>
      <vt:lpstr>What is it?  </vt:lpstr>
      <vt:lpstr>PowerPoint Presentation</vt:lpstr>
      <vt:lpstr>PowerPoint Presentation</vt:lpstr>
      <vt:lpstr>Some Psychological Techniques to convert more customers</vt:lpstr>
      <vt:lpstr>Appeal to Their Identity.</vt:lpstr>
      <vt:lpstr>Appeal to Their Identity. Embrace the Power of Labels.</vt:lpstr>
      <vt:lpstr>Appeal to Their Identity. Embrace the Power of Labels.</vt:lpstr>
      <vt:lpstr>PowerPoint Presentation</vt:lpstr>
      <vt:lpstr>Combination of gift and personalization.</vt:lpstr>
      <vt:lpstr>Use Their Hierarchy of Values.</vt:lpstr>
      <vt:lpstr>Use Their Hierarchy of Values.</vt:lpstr>
      <vt:lpstr>Invoke Emotions</vt:lpstr>
      <vt:lpstr>Invoke Emotions</vt:lpstr>
      <vt:lpstr>Motivate Your Reader.</vt:lpstr>
      <vt:lpstr>Motivate Your Reader.</vt:lpstr>
      <vt:lpstr>Unconscious Motivators. What we say vs. what we really think.</vt:lpstr>
      <vt:lpstr>Show Them the Consequences.</vt:lpstr>
      <vt:lpstr>Show Them the Consequences.</vt:lpstr>
      <vt:lpstr>Employ Metaphor.</vt:lpstr>
      <vt:lpstr>Show No Gray Area</vt:lpstr>
      <vt:lpstr>Have Them Make a Commitment.</vt:lpstr>
      <vt:lpstr>Overcome Inertia Use Urgency</vt:lpstr>
      <vt:lpstr>Add Presuppositions.</vt:lpstr>
      <vt:lpstr>LITERATURE The sources you have to read</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Victor Caidan</dc:creator>
  <cp:lastModifiedBy>Victor Caidan</cp:lastModifiedBy>
  <cp:revision>26</cp:revision>
  <dcterms:created xsi:type="dcterms:W3CDTF">2013-12-11T11:23:46Z</dcterms:created>
  <dcterms:modified xsi:type="dcterms:W3CDTF">2013-12-12T10:29:57Z</dcterms:modified>
</cp:coreProperties>
</file>